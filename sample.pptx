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notesMasterIdLst>
    <p:notesMasterId r:id="rId21"/>
  </p:notesMasterIdLst>
  <p:sldIdLst>
    <p:sldId id="256" r:id="rId2"/>
    <p:sldId id="260" r:id="rId3"/>
    <p:sldId id="258" r:id="rId4"/>
    <p:sldId id="266" r:id="rId5"/>
    <p:sldId id="257" r:id="rId6"/>
    <p:sldId id="259" r:id="rId7"/>
    <p:sldId id="261" r:id="rId8"/>
    <p:sldId id="310" r:id="rId9"/>
    <p:sldId id="311" r:id="rId10"/>
    <p:sldId id="271" r:id="rId11"/>
    <p:sldId id="313" r:id="rId12"/>
    <p:sldId id="317" r:id="rId13"/>
    <p:sldId id="315" r:id="rId14"/>
    <p:sldId id="316" r:id="rId15"/>
    <p:sldId id="312" r:id="rId16"/>
    <p:sldId id="275" r:id="rId17"/>
    <p:sldId id="276" r:id="rId18"/>
    <p:sldId id="314" r:id="rId19"/>
    <p:sldId id="30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FFFF99"/>
    <a:srgbClr val="46DA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85" autoAdjust="0"/>
    <p:restoredTop sz="94660"/>
  </p:normalViewPr>
  <p:slideViewPr>
    <p:cSldViewPr snapToGrid="0">
      <p:cViewPr varScale="1">
        <p:scale>
          <a:sx n="81" d="100"/>
          <a:sy n="81" d="100"/>
        </p:scale>
        <p:origin x="49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0FE767-F025-4820-88B3-08672515ABA2}" type="datetimeFigureOut">
              <a:rPr lang="en-US" smtClean="0"/>
              <a:t>02/12/2026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F3E466-A1B1-445D-99BD-864C716793D8}" type="slidenum">
              <a:rPr lang="en-US" smtClean="0"/>
              <a:t>‹#›</a:t>
            </a:fld>
            <a:endParaRPr lang="en-US"/>
          </a:p>
        </p:txBody>
      </p:sp>
    </p:spTree>
    <p:extLst>
      <p:ext uri="{BB962C8B-B14F-4D97-AF65-F5344CB8AC3E}">
        <p14:creationId xmlns:p14="http://schemas.microsoft.com/office/powerpoint/2010/main" val="1345350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F3E466-A1B1-445D-99BD-864C716793D8}" type="slidenum">
              <a:rPr lang="en-US" smtClean="0"/>
              <a:t>3</a:t>
            </a:fld>
            <a:endParaRPr lang="en-US"/>
          </a:p>
        </p:txBody>
      </p:sp>
    </p:spTree>
    <p:extLst>
      <p:ext uri="{BB962C8B-B14F-4D97-AF65-F5344CB8AC3E}">
        <p14:creationId xmlns:p14="http://schemas.microsoft.com/office/powerpoint/2010/main" val="3982520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F3E466-A1B1-445D-99BD-864C716793D8}" type="slidenum">
              <a:rPr lang="en-US" smtClean="0"/>
              <a:t>4</a:t>
            </a:fld>
            <a:endParaRPr lang="en-US"/>
          </a:p>
        </p:txBody>
      </p:sp>
    </p:spTree>
    <p:extLst>
      <p:ext uri="{BB962C8B-B14F-4D97-AF65-F5344CB8AC3E}">
        <p14:creationId xmlns:p14="http://schemas.microsoft.com/office/powerpoint/2010/main" val="1249805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D4129B-2DCC-4F19-8BF2-50F7AEF12A74}" type="datetimeFigureOut">
              <a:rPr lang="en-US" smtClean="0"/>
              <a:t>02/12/2026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707123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D4129B-2DCC-4F19-8BF2-50F7AEF12A74}" type="datetimeFigureOut">
              <a:rPr lang="en-US" smtClean="0"/>
              <a:t>02/12/2026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2961138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D4129B-2DCC-4F19-8BF2-50F7AEF12A74}" type="datetimeFigureOut">
              <a:rPr lang="en-US" smtClean="0"/>
              <a:t>02/12/2026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353446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D4129B-2DCC-4F19-8BF2-50F7AEF12A74}" type="datetimeFigureOut">
              <a:rPr lang="en-US" smtClean="0"/>
              <a:t>02/12/2026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1050355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D4129B-2DCC-4F19-8BF2-50F7AEF12A74}" type="datetimeFigureOut">
              <a:rPr lang="en-US" smtClean="0"/>
              <a:t>02/12/2026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4022658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D4129B-2DCC-4F19-8BF2-50F7AEF12A74}" type="datetimeFigureOut">
              <a:rPr lang="en-US" smtClean="0"/>
              <a:t>02/12/2026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1043935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D4129B-2DCC-4F19-8BF2-50F7AEF12A74}" type="datetimeFigureOut">
              <a:rPr lang="en-US" smtClean="0"/>
              <a:t>02/12/2026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1168224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D4129B-2DCC-4F19-8BF2-50F7AEF12A74}" type="datetimeFigureOut">
              <a:rPr lang="en-US" smtClean="0"/>
              <a:t>02/12/2026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2248842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D4129B-2DCC-4F19-8BF2-50F7AEF12A74}" type="datetimeFigureOut">
              <a:rPr lang="en-US" smtClean="0"/>
              <a:t>02/12/2026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1753768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D4129B-2DCC-4F19-8BF2-50F7AEF12A74}" type="datetimeFigureOut">
              <a:rPr lang="en-US" smtClean="0"/>
              <a:t>02/12/2026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75087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D4129B-2DCC-4F19-8BF2-50F7AEF12A74}" type="datetimeFigureOut">
              <a:rPr lang="en-US" smtClean="0"/>
              <a:t>02/12/2026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72EEF-E72B-4637-9325-3B85A67A32B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46477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D4129B-2DCC-4F19-8BF2-50F7AEF12A74}" type="datetimeFigureOut">
              <a:rPr lang="en-US" smtClean="0"/>
              <a:t>02/12/2026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25696407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D4129B-2DCC-4F19-8BF2-50F7AEF12A74}" type="datetimeFigureOut">
              <a:rPr lang="en-US" smtClean="0"/>
              <a:t>02/12/2026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72EEF-E72B-4637-9325-3B85A67A32B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56688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D4129B-2DCC-4F19-8BF2-50F7AEF12A74}" type="datetimeFigureOut">
              <a:rPr lang="en-US" smtClean="0"/>
              <a:t>02/12/2026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27770276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D4129B-2DCC-4F19-8BF2-50F7AEF12A74}" type="datetimeFigureOut">
              <a:rPr lang="en-US" smtClean="0"/>
              <a:t>02/12/2026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2630118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D4129B-2DCC-4F19-8BF2-50F7AEF12A74}" type="datetimeFigureOut">
              <a:rPr lang="en-US" smtClean="0"/>
              <a:t>02/12/2026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72EEF-E72B-4637-9325-3B85A67A32B2}" type="slidenum">
              <a:rPr lang="en-US" smtClean="0"/>
              <a:t>‹#›</a:t>
            </a:fld>
            <a:endParaRPr lang="en-US"/>
          </a:p>
        </p:txBody>
      </p:sp>
    </p:spTree>
    <p:extLst>
      <p:ext uri="{BB962C8B-B14F-4D97-AF65-F5344CB8AC3E}">
        <p14:creationId xmlns:p14="http://schemas.microsoft.com/office/powerpoint/2010/main" val="682066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ED4129B-2DCC-4F19-8BF2-50F7AEF12A74}" type="datetimeFigureOut">
              <a:rPr lang="en-US" smtClean="0"/>
              <a:t>02/12/2026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E472EEF-E72B-4637-9325-3B85A67A32B2}" type="slidenum">
              <a:rPr lang="en-US" smtClean="0"/>
              <a:t>‹#›</a:t>
            </a:fld>
            <a:endParaRPr lang="en-US"/>
          </a:p>
        </p:txBody>
      </p:sp>
    </p:spTree>
    <p:extLst>
      <p:ext uri="{BB962C8B-B14F-4D97-AF65-F5344CB8AC3E}">
        <p14:creationId xmlns:p14="http://schemas.microsoft.com/office/powerpoint/2010/main" val="2633920657"/>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 id="2147483843" r:id="rId15"/>
    <p:sldLayoutId id="214748384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D0CF-757A-3B65-B83E-63E7288F63A0}"/>
              </a:ext>
            </a:extLst>
          </p:cNvPr>
          <p:cNvSpPr>
            <a:spLocks noGrp="1"/>
          </p:cNvSpPr>
          <p:nvPr>
            <p:ph type="ctrTitle"/>
          </p:nvPr>
        </p:nvSpPr>
        <p:spPr>
          <a:xfrm>
            <a:off x="1129994" y="2274204"/>
            <a:ext cx="8645601" cy="1646302"/>
          </a:xfrm>
        </p:spPr>
        <p:txBody>
          <a:bodyPr/>
          <a:lstStyle/>
          <a:p>
            <a:pPr algn="ctr"/>
            <a:r>
              <a:rPr lang="en-US" sz="4000" b="1" u="sng" dirty="0">
                <a:latin typeface="Times New Roman" panose="02020603050405020304" pitchFamily="18" charset="0"/>
                <a:cs typeface="Times New Roman" panose="02020603050405020304" pitchFamily="18" charset="0"/>
              </a:rPr>
              <a:t>MediDerma-Automated Skin Disease Detector</a:t>
            </a:r>
            <a:endParaRPr lang="en-US"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1FA6F3F-0EF4-27A3-667B-BAD8350272C6}"/>
              </a:ext>
            </a:extLst>
          </p:cNvPr>
          <p:cNvSpPr>
            <a:spLocks noGrp="1"/>
          </p:cNvSpPr>
          <p:nvPr>
            <p:ph type="subTitle" idx="1"/>
          </p:nvPr>
        </p:nvSpPr>
        <p:spPr>
          <a:xfrm>
            <a:off x="1356238" y="4399601"/>
            <a:ext cx="7766936" cy="1840919"/>
          </a:xfrm>
        </p:spPr>
        <p:txBody>
          <a:bodyPr>
            <a:normAutofit fontScale="92500" lnSpcReduction="10000"/>
          </a:bodyPr>
          <a:lstStyle/>
          <a:p>
            <a:pPr algn="ctr"/>
            <a:r>
              <a:rPr lang="en-US" sz="1900" b="1" dirty="0">
                <a:solidFill>
                  <a:schemeClr val="accent1"/>
                </a:solidFill>
                <a:latin typeface="Times New Roman" panose="02020603050405020304" pitchFamily="18" charset="0"/>
                <a:cs typeface="Times New Roman" panose="02020603050405020304" pitchFamily="18" charset="0"/>
              </a:rPr>
              <a:t>Supervisor name: </a:t>
            </a:r>
            <a:r>
              <a:rPr lang="en-US" sz="1900" dirty="0">
                <a:solidFill>
                  <a:schemeClr val="accent1"/>
                </a:solidFill>
                <a:latin typeface="Times New Roman" panose="02020603050405020304" pitchFamily="18" charset="0"/>
                <a:cs typeface="Times New Roman" panose="02020603050405020304" pitchFamily="18" charset="0"/>
              </a:rPr>
              <a:t>Dr. Fazeel Abid</a:t>
            </a:r>
            <a:endParaRPr lang="en-GB" sz="1900" dirty="0">
              <a:solidFill>
                <a:schemeClr val="accent1"/>
              </a:solidFill>
              <a:latin typeface="Times New Roman" panose="02020603050405020304" pitchFamily="18" charset="0"/>
              <a:cs typeface="Times New Roman" panose="02020603050405020304" pitchFamily="18" charset="0"/>
            </a:endParaRPr>
          </a:p>
          <a:p>
            <a:pPr algn="ctr"/>
            <a:r>
              <a:rPr lang="en-GB" sz="1900" b="1" dirty="0">
                <a:solidFill>
                  <a:schemeClr val="accent1"/>
                </a:solidFill>
                <a:latin typeface="Times New Roman" panose="02020603050405020304" pitchFamily="18" charset="0"/>
                <a:cs typeface="Times New Roman" panose="02020603050405020304" pitchFamily="18" charset="0"/>
              </a:rPr>
              <a:t>Group</a:t>
            </a:r>
            <a:r>
              <a:rPr lang="en-GB" sz="1900" dirty="0">
                <a:solidFill>
                  <a:schemeClr val="accent1"/>
                </a:solidFill>
                <a:latin typeface="Times New Roman" panose="02020603050405020304" pitchFamily="18" charset="0"/>
                <a:cs typeface="Times New Roman" panose="02020603050405020304" pitchFamily="18" charset="0"/>
              </a:rPr>
              <a:t> </a:t>
            </a:r>
            <a:r>
              <a:rPr lang="en-GB" sz="1900" b="1" dirty="0">
                <a:solidFill>
                  <a:schemeClr val="accent1"/>
                </a:solidFill>
                <a:latin typeface="Times New Roman" panose="02020603050405020304" pitchFamily="18" charset="0"/>
                <a:cs typeface="Times New Roman" panose="02020603050405020304" pitchFamily="18" charset="0"/>
              </a:rPr>
              <a:t>ID</a:t>
            </a:r>
            <a:r>
              <a:rPr lang="en-GB" sz="1900" dirty="0">
                <a:solidFill>
                  <a:schemeClr val="accent1"/>
                </a:solidFill>
                <a:latin typeface="Times New Roman" panose="02020603050405020304" pitchFamily="18" charset="0"/>
                <a:cs typeface="Times New Roman" panose="02020603050405020304" pitchFamily="18" charset="0"/>
              </a:rPr>
              <a:t>: </a:t>
            </a:r>
            <a:r>
              <a:rPr lang="en-US" sz="1900" dirty="0">
                <a:solidFill>
                  <a:schemeClr val="accent1"/>
                </a:solidFill>
                <a:latin typeface="Times New Roman" panose="02020603050405020304" pitchFamily="18" charset="0"/>
                <a:cs typeface="Times New Roman" panose="02020603050405020304" pitchFamily="18" charset="0"/>
              </a:rPr>
              <a:t>SP25-1</a:t>
            </a:r>
          </a:p>
          <a:p>
            <a:pPr algn="ctr"/>
            <a:r>
              <a:rPr lang="en-US" sz="1900" b="1" dirty="0">
                <a:solidFill>
                  <a:schemeClr val="accent1"/>
                </a:solidFill>
                <a:latin typeface="Times New Roman" panose="02020603050405020304" pitchFamily="18" charset="0"/>
                <a:cs typeface="Times New Roman" panose="02020603050405020304" pitchFamily="18" charset="0"/>
              </a:rPr>
              <a:t>Session: </a:t>
            </a:r>
            <a:r>
              <a:rPr lang="en-US" sz="1900" dirty="0">
                <a:solidFill>
                  <a:schemeClr val="accent1"/>
                </a:solidFill>
                <a:latin typeface="Times New Roman" panose="02020603050405020304" pitchFamily="18" charset="0"/>
                <a:cs typeface="Times New Roman" panose="02020603050405020304" pitchFamily="18" charset="0"/>
              </a:rPr>
              <a:t>2022-2026</a:t>
            </a:r>
          </a:p>
          <a:p>
            <a:pPr algn="ctr"/>
            <a:r>
              <a:rPr lang="en-US" sz="1900" b="1" dirty="0">
                <a:solidFill>
                  <a:schemeClr val="accent1"/>
                </a:solidFill>
                <a:latin typeface="Times New Roman" panose="02020603050405020304" pitchFamily="18" charset="0"/>
                <a:cs typeface="Times New Roman" panose="02020603050405020304" pitchFamily="18" charset="0"/>
              </a:rPr>
              <a:t>Student name: </a:t>
            </a:r>
            <a:r>
              <a:rPr lang="en-US" sz="1900" dirty="0">
                <a:solidFill>
                  <a:schemeClr val="accent1"/>
                </a:solidFill>
                <a:latin typeface="Times New Roman" panose="02020603050405020304" pitchFamily="18" charset="0"/>
                <a:cs typeface="Times New Roman" panose="02020603050405020304" pitchFamily="18" charset="0"/>
              </a:rPr>
              <a:t>Muqadas Asif 70131460</a:t>
            </a:r>
          </a:p>
          <a:p>
            <a:pPr algn="ctr"/>
            <a:r>
              <a:rPr lang="en-US" sz="1900" dirty="0">
                <a:solidFill>
                  <a:schemeClr val="accent1"/>
                </a:solidFill>
                <a:latin typeface="Times New Roman" panose="02020603050405020304" pitchFamily="18" charset="0"/>
                <a:cs typeface="Times New Roman" panose="02020603050405020304" pitchFamily="18" charset="0"/>
              </a:rPr>
              <a:t>                   Syeda Hijjab Zahra 70131199</a:t>
            </a:r>
          </a:p>
          <a:p>
            <a:pPr algn="ctr"/>
            <a:endParaRPr lang="en-US" dirty="0">
              <a:solidFill>
                <a:schemeClr val="accent1"/>
              </a:solidFill>
              <a:latin typeface="Times New Roman" panose="02020603050405020304" pitchFamily="18" charset="0"/>
              <a:cs typeface="Times New Roman" panose="02020603050405020304" pitchFamily="18" charset="0"/>
            </a:endParaRPr>
          </a:p>
          <a:p>
            <a:pPr algn="ctr"/>
            <a:endParaRPr lang="en-US" dirty="0">
              <a:solidFill>
                <a:schemeClr val="accent1"/>
              </a:solidFill>
              <a:latin typeface="Times New Roman" panose="02020603050405020304" pitchFamily="18" charset="0"/>
              <a:cs typeface="Times New Roman" panose="02020603050405020304" pitchFamily="18" charset="0"/>
            </a:endParaRPr>
          </a:p>
        </p:txBody>
      </p:sp>
      <p:pic>
        <p:nvPicPr>
          <p:cNvPr id="1026" name="Picture 2" descr="University of Lahore - Wikipedia">
            <a:extLst>
              <a:ext uri="{FF2B5EF4-FFF2-40B4-BE49-F238E27FC236}">
                <a16:creationId xmlns:a16="http://schemas.microsoft.com/office/drawing/2014/main" id="{A3A56C47-F6DE-4BC3-6AD9-B09BD70F36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6898" y="674095"/>
            <a:ext cx="3759182" cy="1360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067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0E758-F0BB-6240-14F5-E221ECA17E0E}"/>
              </a:ext>
            </a:extLst>
          </p:cNvPr>
          <p:cNvSpPr>
            <a:spLocks noGrp="1"/>
          </p:cNvSpPr>
          <p:nvPr>
            <p:ph type="title"/>
          </p:nvPr>
        </p:nvSpPr>
        <p:spPr>
          <a:xfrm>
            <a:off x="780695" y="2108200"/>
            <a:ext cx="8596668" cy="1320800"/>
          </a:xfrm>
        </p:spPr>
        <p:txBody>
          <a:bodyPr>
            <a:normAutofit/>
          </a:bodyPr>
          <a:lstStyle/>
          <a:p>
            <a:pPr algn="ctr"/>
            <a:r>
              <a:rPr lang="en-US" sz="48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DCD0A45D-621A-83FF-F7B2-5D71B9EF2B89}"/>
              </a:ext>
            </a:extLst>
          </p:cNvPr>
          <p:cNvSpPr>
            <a:spLocks noGrp="1"/>
          </p:cNvSpPr>
          <p:nvPr>
            <p:ph idx="1"/>
          </p:nvPr>
        </p:nvSpPr>
        <p:spPr>
          <a:xfrm>
            <a:off x="498363" y="2670863"/>
            <a:ext cx="9183103" cy="3880773"/>
          </a:xfrm>
        </p:spPr>
        <p:txBody>
          <a:bodyPr/>
          <a:lstStyle/>
          <a:p>
            <a:pPr marL="0" indent="0" algn="ctr">
              <a:buNone/>
            </a:pPr>
            <a:endParaRPr lang="en-US" sz="2400" dirty="0">
              <a:latin typeface="Times New Roman" panose="02020603050405020304" pitchFamily="18" charset="0"/>
              <a:cs typeface="Times New Roman" panose="02020603050405020304" pitchFamily="18" charset="0"/>
            </a:endParaRPr>
          </a:p>
          <a:p>
            <a:pPr marL="0" indent="0" algn="ctr">
              <a:buNone/>
            </a:pPr>
            <a:r>
              <a:rPr lang="en-US" sz="2400" dirty="0">
                <a:latin typeface="Times New Roman" panose="02020603050405020304" pitchFamily="18" charset="0"/>
                <a:cs typeface="Times New Roman" panose="02020603050405020304" pitchFamily="18" charset="0"/>
              </a:rPr>
              <a:t>“ </a:t>
            </a:r>
            <a:r>
              <a:rPr lang="en-US" sz="2400" dirty="0">
                <a:solidFill>
                  <a:schemeClr val="accent1"/>
                </a:solidFill>
                <a:latin typeface="Times New Roman" panose="02020603050405020304" pitchFamily="18" charset="0"/>
                <a:cs typeface="Times New Roman" panose="02020603050405020304" pitchFamily="18" charset="0"/>
              </a:rPr>
              <a:t>One in three people worldwide faces untreated skin conditions due to limited dermatology access, causing delay in diagnosis and treatment. This AI-powered detection system aims to bridge this gap by providing instant skin analysis for various conditions, including acne, eczema, basal cell carcinoma (BCC), squamous cell carcinoma (SCC), psoriasis, and melanoma, directly from images. </a:t>
            </a:r>
            <a:r>
              <a:rPr lang="en-US" sz="2400" dirty="0">
                <a:latin typeface="Times New Roman" panose="02020603050405020304" pitchFamily="18" charset="0"/>
                <a:cs typeface="Times New Roman" panose="02020603050405020304" pitchFamily="18" charset="0"/>
              </a:rPr>
              <a:t>”</a:t>
            </a:r>
          </a:p>
          <a:p>
            <a:endParaRPr lang="en-US" dirty="0"/>
          </a:p>
        </p:txBody>
      </p:sp>
      <p:pic>
        <p:nvPicPr>
          <p:cNvPr id="17410" name="Picture 2" descr="Problem Statement Stock Illustrations ...">
            <a:extLst>
              <a:ext uri="{FF2B5EF4-FFF2-40B4-BE49-F238E27FC236}">
                <a16:creationId xmlns:a16="http://schemas.microsoft.com/office/drawing/2014/main" id="{C4AB1D1E-A11A-8702-604A-3D4924DE5E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7961" y="90003"/>
            <a:ext cx="2943906"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776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E77E0-7E30-7618-483C-014A23848863}"/>
              </a:ext>
            </a:extLst>
          </p:cNvPr>
          <p:cNvSpPr>
            <a:spLocks noGrp="1"/>
          </p:cNvSpPr>
          <p:nvPr>
            <p:ph type="title"/>
          </p:nvPr>
        </p:nvSpPr>
        <p:spPr>
          <a:xfrm>
            <a:off x="1667070" y="609600"/>
            <a:ext cx="8596668" cy="1256907"/>
          </a:xfrm>
        </p:spPr>
        <p:txBody>
          <a:bodyPr>
            <a:normAutofit/>
          </a:bodyPr>
          <a:lstStyle/>
          <a:p>
            <a:pPr algn="ctr"/>
            <a:r>
              <a:rPr lang="en-US" sz="4800" b="1" dirty="0">
                <a:latin typeface="Times New Roman" panose="02020603050405020304" pitchFamily="18" charset="0"/>
                <a:cs typeface="Times New Roman" panose="02020603050405020304" pitchFamily="18" charset="0"/>
              </a:rPr>
              <a:t>Key Objectives</a:t>
            </a:r>
            <a:endParaRPr lang="en-US"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2AA5C49-45C3-D24C-37E9-CA1733EA46EA}"/>
              </a:ext>
            </a:extLst>
          </p:cNvPr>
          <p:cNvSpPr>
            <a:spLocks noGrp="1"/>
          </p:cNvSpPr>
          <p:nvPr>
            <p:ph idx="1"/>
          </p:nvPr>
        </p:nvSpPr>
        <p:spPr>
          <a:xfrm>
            <a:off x="867330" y="2777765"/>
            <a:ext cx="8596668" cy="3880773"/>
          </a:xfrm>
        </p:spPr>
        <p:txBody>
          <a:bodyPr/>
          <a:lstStyle/>
          <a:p>
            <a:r>
              <a:rPr lang="en-GB" sz="2400" dirty="0">
                <a:latin typeface="Times New Roman" panose="02020603050405020304" pitchFamily="18" charset="0"/>
                <a:cs typeface="Times New Roman" panose="02020603050405020304" pitchFamily="18" charset="0"/>
              </a:rPr>
              <a:t>To develop a machine learning model capable of identifying various skin diseases from images </a:t>
            </a:r>
          </a:p>
          <a:p>
            <a:r>
              <a:rPr lang="en-GB" sz="2400" dirty="0">
                <a:latin typeface="Times New Roman" panose="02020603050405020304" pitchFamily="18" charset="0"/>
                <a:cs typeface="Times New Roman" panose="02020603050405020304" pitchFamily="18" charset="0"/>
              </a:rPr>
              <a:t>To make dermatological screening more accessible and cost-effective through  mobile application.</a:t>
            </a:r>
          </a:p>
          <a:p>
            <a:r>
              <a:rPr lang="en-GB" sz="2400" dirty="0">
                <a:latin typeface="Times New Roman" panose="02020603050405020304" pitchFamily="18" charset="0"/>
                <a:cs typeface="Times New Roman" panose="02020603050405020304" pitchFamily="18" charset="0"/>
              </a:rPr>
              <a:t>To facilitate timely medical intervention and reduce health risks.</a:t>
            </a:r>
          </a:p>
        </p:txBody>
      </p:sp>
      <p:pic>
        <p:nvPicPr>
          <p:cNvPr id="2051" name="Picture 3" descr="Key Objectives – Design For Security">
            <a:extLst>
              <a:ext uri="{FF2B5EF4-FFF2-40B4-BE49-F238E27FC236}">
                <a16:creationId xmlns:a16="http://schemas.microsoft.com/office/drawing/2014/main" id="{C81081DD-26A9-E906-2626-9594AE52B8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0" y="-2"/>
            <a:ext cx="3874416" cy="2476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5603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C75A5-780F-0B54-9543-2E78BA2760E7}"/>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343DE558-6005-D468-9670-5B7CD806DD32}"/>
              </a:ext>
            </a:extLst>
          </p:cNvPr>
          <p:cNvSpPr>
            <a:spLocks noGrp="1"/>
          </p:cNvSpPr>
          <p:nvPr>
            <p:ph idx="1"/>
          </p:nvPr>
        </p:nvSpPr>
        <p:spPr>
          <a:xfrm>
            <a:off x="957945" y="2281287"/>
            <a:ext cx="8686174" cy="3716741"/>
          </a:xfrm>
        </p:spPr>
        <p:txBody>
          <a:bodyPr>
            <a:normAutofit/>
          </a:bodyPr>
          <a:lstStyle/>
          <a:p>
            <a:r>
              <a:rPr lang="en-US" sz="2000" dirty="0">
                <a:latin typeface="Times New Roman" panose="02020603050405020304" pitchFamily="18" charset="0"/>
                <a:cs typeface="Times New Roman" panose="02020603050405020304" pitchFamily="18" charset="0"/>
              </a:rPr>
              <a:t>These conditions can severely impact quality of life, including:</a:t>
            </a:r>
          </a:p>
          <a:p>
            <a:pPr lvl="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Psychological well-being</a:t>
            </a:r>
          </a:p>
          <a:p>
            <a:pPr lvl="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Social interactions</a:t>
            </a:r>
          </a:p>
          <a:p>
            <a:pPr lvl="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Daily functioning</a:t>
            </a:r>
          </a:p>
          <a:p>
            <a:r>
              <a:rPr lang="en-US" sz="2000" dirty="0">
                <a:latin typeface="Times New Roman" panose="02020603050405020304" pitchFamily="18" charset="0"/>
                <a:cs typeface="Times New Roman" panose="02020603050405020304" pitchFamily="18" charset="0"/>
              </a:rPr>
              <a:t>Early detection is critical:</a:t>
            </a:r>
          </a:p>
          <a:p>
            <a:pPr lvl="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Melanoma survival rate is &gt;99% if caught early</a:t>
            </a:r>
          </a:p>
          <a:p>
            <a:pPr lvl="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Drops to 25% in later stages</a:t>
            </a:r>
          </a:p>
        </p:txBody>
      </p:sp>
      <p:pic>
        <p:nvPicPr>
          <p:cNvPr id="8195" name="Picture 3" descr="Motivation Logo Stock Illustrations ...">
            <a:extLst>
              <a:ext uri="{FF2B5EF4-FFF2-40B4-BE49-F238E27FC236}">
                <a16:creationId xmlns:a16="http://schemas.microsoft.com/office/drawing/2014/main" id="{3F94BE36-C214-8FCD-899E-C244105D31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819" t="16916" r="12858" b="17052"/>
          <a:stretch>
            <a:fillRect/>
          </a:stretch>
        </p:blipFill>
        <p:spPr bwMode="auto">
          <a:xfrm>
            <a:off x="1404258" y="0"/>
            <a:ext cx="2177142" cy="1763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499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4D5E8-DB9E-7CA3-3115-5F7F5C463010}"/>
              </a:ext>
            </a:extLst>
          </p:cNvPr>
          <p:cNvSpPr>
            <a:spLocks noGrp="1"/>
          </p:cNvSpPr>
          <p:nvPr>
            <p:ph type="title"/>
          </p:nvPr>
        </p:nvSpPr>
        <p:spPr>
          <a:xfrm>
            <a:off x="819722" y="539032"/>
            <a:ext cx="8596668" cy="804421"/>
          </a:xfrm>
        </p:spPr>
        <p:txBody>
          <a:bodyPr>
            <a:normAutofit fontScale="90000"/>
          </a:bodyPr>
          <a:lstStyle/>
          <a:p>
            <a:pPr algn="ctr"/>
            <a:r>
              <a:rPr lang="en-GB" sz="5300" b="1" dirty="0">
                <a:latin typeface="Times New Roman" panose="02020603050405020304" pitchFamily="18" charset="0"/>
                <a:cs typeface="Times New Roman" panose="02020603050405020304" pitchFamily="18" charset="0"/>
              </a:rPr>
              <a:t>Overview</a:t>
            </a:r>
            <a:br>
              <a:rPr lang="en-US" dirty="0"/>
            </a:br>
            <a:endParaRPr lang="en-US" dirty="0"/>
          </a:p>
        </p:txBody>
      </p:sp>
      <p:sp>
        <p:nvSpPr>
          <p:cNvPr id="8" name="Rectangle 2">
            <a:extLst>
              <a:ext uri="{FF2B5EF4-FFF2-40B4-BE49-F238E27FC236}">
                <a16:creationId xmlns:a16="http://schemas.microsoft.com/office/drawing/2014/main" id="{C0799442-6302-A078-65A7-4FF929E8E8CF}"/>
              </a:ext>
            </a:extLst>
          </p:cNvPr>
          <p:cNvSpPr>
            <a:spLocks noGrp="1" noChangeArrowheads="1"/>
          </p:cNvSpPr>
          <p:nvPr>
            <p:ph idx="1"/>
          </p:nvPr>
        </p:nvSpPr>
        <p:spPr bwMode="auto">
          <a:xfrm>
            <a:off x="507651" y="2164912"/>
            <a:ext cx="9220811" cy="2759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Development of an automated diagnostic tool for various skin conditions using image analysis.</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Trained on diverse skin image datasets to ensure high diagnostic accuracy.</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Simple interaction for non-technical users</a:t>
            </a:r>
          </a:p>
          <a:p>
            <a:r>
              <a:rPr lang="en-GB" sz="2000" dirty="0">
                <a:solidFill>
                  <a:schemeClr val="tx1">
                    <a:lumMod val="95000"/>
                    <a:lumOff val="5000"/>
                  </a:schemeClr>
                </a:solidFill>
                <a:latin typeface="Times New Roman" panose="02020603050405020304" pitchFamily="18" charset="0"/>
                <a:cs typeface="Times New Roman" panose="02020603050405020304" pitchFamily="18" charset="0"/>
              </a:rPr>
              <a:t>The model analyses images, identifies skin diseases, and provides early diagnostic insights.</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Detects conditions such as:  Skin cancer, Psoriasis, Acne, Eczema</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120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D2747-E8BE-F685-660F-78C9A8EF2328}"/>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Target Users</a:t>
            </a:r>
            <a:endParaRPr lang="en-US"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F3B69B-C33A-157C-F025-18A75F21D290}"/>
              </a:ext>
            </a:extLst>
          </p:cNvPr>
          <p:cNvSpPr>
            <a:spLocks noGrp="1"/>
          </p:cNvSpPr>
          <p:nvPr>
            <p:ph idx="1"/>
          </p:nvPr>
        </p:nvSpPr>
        <p:spPr>
          <a:xfrm>
            <a:off x="818736" y="2160589"/>
            <a:ext cx="8596668" cy="3880773"/>
          </a:xfrm>
        </p:spPr>
        <p:txBody>
          <a:bodyPr/>
          <a:lstStyle/>
          <a:p>
            <a:pPr lvl="0"/>
            <a:r>
              <a:rPr lang="en-US" sz="2400" dirty="0">
                <a:latin typeface="Times New Roman" panose="02020603050405020304" pitchFamily="18" charset="0"/>
                <a:cs typeface="Times New Roman" panose="02020603050405020304" pitchFamily="18" charset="0"/>
              </a:rPr>
              <a:t>Healthcare Providers (General practitioners, dermatologists, clinic staff)</a:t>
            </a:r>
          </a:p>
          <a:p>
            <a:pPr lvl="0"/>
            <a:r>
              <a:rPr lang="en-US" sz="2400" dirty="0">
                <a:latin typeface="Times New Roman" panose="02020603050405020304" pitchFamily="18" charset="0"/>
                <a:cs typeface="Times New Roman" panose="02020603050405020304" pitchFamily="18" charset="0"/>
              </a:rPr>
              <a:t>General Public (Patients, individuals)</a:t>
            </a:r>
          </a:p>
          <a:p>
            <a:pPr lvl="0"/>
            <a:r>
              <a:rPr lang="en-US" sz="2400" dirty="0">
                <a:latin typeface="Times New Roman" panose="02020603050405020304" pitchFamily="18" charset="0"/>
                <a:cs typeface="Times New Roman" panose="02020603050405020304" pitchFamily="18" charset="0"/>
              </a:rPr>
              <a:t>Healthcare Platforms (Companies offering remote healthcare solutions)</a:t>
            </a:r>
          </a:p>
          <a:p>
            <a:endParaRPr lang="en-US" dirty="0"/>
          </a:p>
        </p:txBody>
      </p:sp>
      <p:pic>
        <p:nvPicPr>
          <p:cNvPr id="16386" name="Picture 2" descr="Top 5 Ways to Determine Target Market ...">
            <a:extLst>
              <a:ext uri="{FF2B5EF4-FFF2-40B4-BE49-F238E27FC236}">
                <a16:creationId xmlns:a16="http://schemas.microsoft.com/office/drawing/2014/main" id="{EC0498DB-3630-4A7F-40F7-3966BC297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6596" y="4376057"/>
            <a:ext cx="4001164" cy="2481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8770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FBF5-15A6-3DA3-B9F3-38591964AEFE}"/>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Proposed Solution</a:t>
            </a:r>
          </a:p>
        </p:txBody>
      </p:sp>
      <p:graphicFrame>
        <p:nvGraphicFramePr>
          <p:cNvPr id="4" name="Content Placeholder 3">
            <a:extLst>
              <a:ext uri="{FF2B5EF4-FFF2-40B4-BE49-F238E27FC236}">
                <a16:creationId xmlns:a16="http://schemas.microsoft.com/office/drawing/2014/main" id="{7D331532-92DA-AA85-C934-2BA0EEA28E95}"/>
              </a:ext>
            </a:extLst>
          </p:cNvPr>
          <p:cNvGraphicFramePr>
            <a:graphicFrameLocks noGrp="1"/>
          </p:cNvGraphicFramePr>
          <p:nvPr>
            <p:ph idx="1"/>
            <p:extLst>
              <p:ext uri="{D42A27DB-BD31-4B8C-83A1-F6EECF244321}">
                <p14:modId xmlns:p14="http://schemas.microsoft.com/office/powerpoint/2010/main" val="33735380"/>
              </p:ext>
            </p:extLst>
          </p:nvPr>
        </p:nvGraphicFramePr>
        <p:xfrm>
          <a:off x="508001" y="1930400"/>
          <a:ext cx="10024533" cy="2997200"/>
        </p:xfrm>
        <a:graphic>
          <a:graphicData uri="http://schemas.openxmlformats.org/drawingml/2006/table">
            <a:tbl>
              <a:tblPr firstRow="1" firstCol="1" bandRow="1">
                <a:tableStyleId>{5C22544A-7EE6-4342-B048-85BDC9FD1C3A}</a:tableStyleId>
              </a:tblPr>
              <a:tblGrid>
                <a:gridCol w="2914654">
                  <a:extLst>
                    <a:ext uri="{9D8B030D-6E8A-4147-A177-3AD203B41FA5}">
                      <a16:colId xmlns:a16="http://schemas.microsoft.com/office/drawing/2014/main" val="1424420369"/>
                    </a:ext>
                  </a:extLst>
                </a:gridCol>
                <a:gridCol w="7109879">
                  <a:extLst>
                    <a:ext uri="{9D8B030D-6E8A-4147-A177-3AD203B41FA5}">
                      <a16:colId xmlns:a16="http://schemas.microsoft.com/office/drawing/2014/main" val="1850055051"/>
                    </a:ext>
                  </a:extLst>
                </a:gridCol>
              </a:tblGrid>
              <a:tr h="402383">
                <a:tc>
                  <a:txBody>
                    <a:bodyPr/>
                    <a:lstStyle/>
                    <a:p>
                      <a:pPr marL="6350" marR="1270" indent="-6350" algn="ctr">
                        <a:lnSpc>
                          <a:spcPct val="109000"/>
                        </a:lnSpc>
                        <a:spcAft>
                          <a:spcPts val="15"/>
                        </a:spcAft>
                        <a:buNone/>
                      </a:pPr>
                      <a:r>
                        <a:rPr lang="en-US" sz="1800">
                          <a:effectLst/>
                          <a:latin typeface="Times New Roman" panose="02020603050405020304" pitchFamily="18" charset="0"/>
                          <a:cs typeface="Times New Roman" panose="02020603050405020304" pitchFamily="18" charset="0"/>
                        </a:rPr>
                        <a:t>Features</a:t>
                      </a:r>
                      <a:endPar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350" marR="1270" indent="-6350" algn="ctr">
                        <a:lnSpc>
                          <a:spcPct val="109000"/>
                        </a:lnSpc>
                        <a:spcAft>
                          <a:spcPts val="15"/>
                        </a:spcAft>
                        <a:buNone/>
                      </a:pPr>
                      <a:r>
                        <a:rPr lang="en-US" sz="1800" dirty="0">
                          <a:effectLst/>
                          <a:latin typeface="Times New Roman" panose="02020603050405020304" pitchFamily="18" charset="0"/>
                          <a:cs typeface="Times New Roman" panose="02020603050405020304" pitchFamily="18" charset="0"/>
                        </a:rPr>
                        <a:t>Proposed Solution</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91211036"/>
                  </a:ext>
                </a:extLst>
              </a:tr>
              <a:tr h="1056959">
                <a:tc>
                  <a:txBody>
                    <a:bodyPr/>
                    <a:lstStyle/>
                    <a:p>
                      <a:pPr marL="6350" marR="1270" indent="-6350" algn="l">
                        <a:lnSpc>
                          <a:spcPct val="109000"/>
                        </a:lnSpc>
                        <a:spcAft>
                          <a:spcPts val="15"/>
                        </a:spcAft>
                        <a:buNone/>
                      </a:pPr>
                      <a:r>
                        <a:rPr lang="en-US" sz="1800" dirty="0">
                          <a:effectLst/>
                          <a:latin typeface="Times New Roman" panose="02020603050405020304" pitchFamily="18" charset="0"/>
                          <a:cs typeface="Times New Roman" panose="02020603050405020304" pitchFamily="18" charset="0"/>
                        </a:rPr>
                        <a:t>Detect Skin Disease </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350" marR="1270" indent="-6350" algn="l">
                        <a:lnSpc>
                          <a:spcPct val="109000"/>
                        </a:lnSpc>
                        <a:spcAft>
                          <a:spcPts val="15"/>
                        </a:spcAft>
                        <a:buNone/>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Uses deep learning (Vision Transformer) to analyze uploaded skin images and detect potential skin diseases with a confidence score, enabling early and accurate diagnosis support.</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62072385"/>
                  </a:ext>
                </a:extLst>
              </a:tr>
              <a:tr h="788312">
                <a:tc>
                  <a:txBody>
                    <a:bodyPr/>
                    <a:lstStyle/>
                    <a:p>
                      <a:pPr marL="6350" marR="1270" indent="-6350" algn="just">
                        <a:lnSpc>
                          <a:spcPct val="109000"/>
                        </a:lnSpc>
                        <a:spcAft>
                          <a:spcPts val="15"/>
                        </a:spcAft>
                        <a:buNone/>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Weather Alert</a:t>
                      </a:r>
                    </a:p>
                  </a:txBody>
                  <a:tcPr marL="68580" marR="68580" marT="0" marB="0"/>
                </a:tc>
                <a:tc>
                  <a:txBody>
                    <a:bodyPr/>
                    <a:lstStyle/>
                    <a:p>
                      <a:pPr marL="6350" marR="1270" indent="-6350" algn="l">
                        <a:lnSpc>
                          <a:spcPct val="109000"/>
                        </a:lnSpc>
                        <a:spcAft>
                          <a:spcPts val="15"/>
                        </a:spcAft>
                        <a:buNone/>
                      </a:pPr>
                      <a:r>
                        <a:rPr lang="en-US" sz="1800" dirty="0">
                          <a:effectLst/>
                          <a:latin typeface="Times New Roman" panose="02020603050405020304" pitchFamily="18" charset="0"/>
                          <a:cs typeface="Times New Roman" panose="02020603050405020304" pitchFamily="18" charset="0"/>
                        </a:rPr>
                        <a:t>Provides hyperlocal alerts when environmental factors like temperature, humidity </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80590434"/>
                  </a:ext>
                </a:extLst>
              </a:tr>
              <a:tr h="749546">
                <a:tc>
                  <a:txBody>
                    <a:bodyPr/>
                    <a:lstStyle/>
                    <a:p>
                      <a:pPr marL="6350" marR="26670" indent="-6350" algn="just">
                        <a:lnSpc>
                          <a:spcPct val="109000"/>
                        </a:lnSpc>
                        <a:spcAft>
                          <a:spcPts val="15"/>
                        </a:spcAft>
                        <a:buNone/>
                      </a:pPr>
                      <a:r>
                        <a:rPr lang="en-US" sz="1800">
                          <a:effectLst/>
                          <a:latin typeface="Times New Roman" panose="02020603050405020304" pitchFamily="18" charset="0"/>
                          <a:cs typeface="Times New Roman" panose="02020603050405020304" pitchFamily="18" charset="0"/>
                        </a:rPr>
                        <a:t>Genetic &amp; Ancestral analysis </a:t>
                      </a:r>
                      <a:endPar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25" marR="9525" indent="-6350" algn="just">
                        <a:lnSpc>
                          <a:spcPct val="109000"/>
                        </a:lnSpc>
                        <a:spcAft>
                          <a:spcPts val="15"/>
                        </a:spcAft>
                        <a:buNone/>
                      </a:pPr>
                      <a:r>
                        <a:rPr lang="en-US" sz="1800" dirty="0">
                          <a:effectLst/>
                          <a:latin typeface="Times New Roman" panose="02020603050405020304" pitchFamily="18" charset="0"/>
                          <a:cs typeface="Times New Roman" panose="02020603050405020304" pitchFamily="18" charset="0"/>
                        </a:rPr>
                        <a:t>To provide users with personalized, proactive skin health insights based on their genetic and ancestral skin conditions.</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70956592"/>
                  </a:ext>
                </a:extLst>
              </a:tr>
            </a:tbl>
          </a:graphicData>
        </a:graphic>
      </p:graphicFrame>
    </p:spTree>
    <p:extLst>
      <p:ext uri="{BB962C8B-B14F-4D97-AF65-F5344CB8AC3E}">
        <p14:creationId xmlns:p14="http://schemas.microsoft.com/office/powerpoint/2010/main" val="4084357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79E5B-5C6E-363E-DBC9-8368DA1B510E}"/>
              </a:ext>
            </a:extLst>
          </p:cNvPr>
          <p:cNvSpPr>
            <a:spLocks noGrp="1"/>
          </p:cNvSpPr>
          <p:nvPr>
            <p:ph type="title"/>
          </p:nvPr>
        </p:nvSpPr>
        <p:spPr/>
        <p:txBody>
          <a:bodyPr>
            <a:normAutofit/>
          </a:bodyPr>
          <a:lstStyle/>
          <a:p>
            <a:pPr algn="ctr"/>
            <a:r>
              <a:rPr lang="en-US" sz="4400" b="1" dirty="0">
                <a:latin typeface="Times New Roman" panose="02020603050405020304" pitchFamily="18" charset="0"/>
                <a:cs typeface="Times New Roman" panose="02020603050405020304" pitchFamily="18" charset="0"/>
              </a:rPr>
              <a:t>Requirements </a:t>
            </a:r>
          </a:p>
        </p:txBody>
      </p:sp>
      <p:sp>
        <p:nvSpPr>
          <p:cNvPr id="3" name="Content Placeholder 2">
            <a:extLst>
              <a:ext uri="{FF2B5EF4-FFF2-40B4-BE49-F238E27FC236}">
                <a16:creationId xmlns:a16="http://schemas.microsoft.com/office/drawing/2014/main" id="{CB3C75DC-433F-6086-C84D-1A72F438206A}"/>
              </a:ext>
            </a:extLst>
          </p:cNvPr>
          <p:cNvSpPr>
            <a:spLocks noGrp="1"/>
          </p:cNvSpPr>
          <p:nvPr>
            <p:ph idx="1"/>
          </p:nvPr>
        </p:nvSpPr>
        <p:spPr>
          <a:xfrm>
            <a:off x="677334" y="1692504"/>
            <a:ext cx="8596668" cy="3880773"/>
          </a:xfrm>
        </p:spPr>
        <p:txBody>
          <a:bodyPr>
            <a:normAutofit/>
          </a:bodyPr>
          <a:lstStyle/>
          <a:p>
            <a:pPr lvl="2"/>
            <a:r>
              <a:rPr lang="en-US" sz="2400" b="1" dirty="0">
                <a:latin typeface="Times New Roman" panose="02020603050405020304" pitchFamily="18" charset="0"/>
                <a:cs typeface="Times New Roman" panose="02020603050405020304" pitchFamily="18" charset="0"/>
              </a:rPr>
              <a:t>Functional Requirement </a:t>
            </a:r>
          </a:p>
          <a:p>
            <a:r>
              <a:rPr lang="en-US" sz="2400" dirty="0">
                <a:latin typeface="Times New Roman" panose="02020603050405020304" pitchFamily="18" charset="0"/>
                <a:cs typeface="Times New Roman" panose="02020603050405020304" pitchFamily="18" charset="0"/>
              </a:rPr>
              <a:t>Take/select image for disease detection</a:t>
            </a:r>
          </a:p>
          <a:p>
            <a:r>
              <a:rPr lang="en-US" sz="2400" dirty="0">
                <a:latin typeface="Times New Roman" panose="02020603050405020304" pitchFamily="18" charset="0"/>
                <a:cs typeface="Times New Roman" panose="02020603050405020304" pitchFamily="18" charset="0"/>
              </a:rPr>
              <a:t>Match the input image from database</a:t>
            </a:r>
          </a:p>
          <a:p>
            <a:r>
              <a:rPr lang="en-US" sz="2400" dirty="0">
                <a:latin typeface="Times New Roman" panose="02020603050405020304" pitchFamily="18" charset="0"/>
                <a:cs typeface="Times New Roman" panose="02020603050405020304" pitchFamily="18" charset="0"/>
              </a:rPr>
              <a:t>Predict the related (output) disease</a:t>
            </a:r>
          </a:p>
          <a:p>
            <a:r>
              <a:rPr lang="en-US" sz="2400" dirty="0">
                <a:latin typeface="Times New Roman" panose="02020603050405020304" pitchFamily="18" charset="0"/>
                <a:cs typeface="Times New Roman" panose="02020603050405020304" pitchFamily="18" charset="0"/>
              </a:rPr>
              <a:t>Suggest doctor for serious condition</a:t>
            </a:r>
          </a:p>
          <a:p>
            <a:r>
              <a:rPr lang="en-US" sz="2400" dirty="0">
                <a:latin typeface="Times New Roman" panose="02020603050405020304" pitchFamily="18" charset="0"/>
                <a:cs typeface="Times New Roman" panose="02020603050405020304" pitchFamily="18" charset="0"/>
              </a:rPr>
              <a:t>Ancestral Analysis</a:t>
            </a:r>
          </a:p>
          <a:p>
            <a:r>
              <a:rPr lang="en-US" sz="2400" dirty="0">
                <a:latin typeface="Times New Roman" panose="02020603050405020304" pitchFamily="18" charset="0"/>
                <a:cs typeface="Times New Roman" panose="02020603050405020304" pitchFamily="18" charset="0"/>
              </a:rPr>
              <a:t>Weather Alerts</a:t>
            </a:r>
          </a:p>
          <a:p>
            <a:endParaRPr lang="en-US" sz="2000" dirty="0">
              <a:latin typeface="Times New Roman" panose="02020603050405020304" pitchFamily="18" charset="0"/>
              <a:cs typeface="Times New Roman" panose="02020603050405020304" pitchFamily="18" charset="0"/>
            </a:endParaRPr>
          </a:p>
          <a:p>
            <a:endParaRPr lang="en-US" dirty="0"/>
          </a:p>
        </p:txBody>
      </p:sp>
      <p:pic>
        <p:nvPicPr>
          <p:cNvPr id="15364" name="Picture 4" descr="Akinjide Peters">
            <a:extLst>
              <a:ext uri="{FF2B5EF4-FFF2-40B4-BE49-F238E27FC236}">
                <a16:creationId xmlns:a16="http://schemas.microsoft.com/office/drawing/2014/main" id="{F9419E68-C493-B3F5-94FA-9A2C915CA96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907"/>
          <a:stretch>
            <a:fillRect/>
          </a:stretch>
        </p:blipFill>
        <p:spPr bwMode="auto">
          <a:xfrm>
            <a:off x="4495801" y="4964549"/>
            <a:ext cx="4524070" cy="1893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716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4C8E23-843E-0520-1B7B-5D30DE636E33}"/>
              </a:ext>
            </a:extLst>
          </p:cNvPr>
          <p:cNvSpPr>
            <a:spLocks noGrp="1"/>
          </p:cNvSpPr>
          <p:nvPr>
            <p:ph idx="1"/>
          </p:nvPr>
        </p:nvSpPr>
        <p:spPr>
          <a:xfrm>
            <a:off x="1319591" y="1322389"/>
            <a:ext cx="8596668" cy="3880773"/>
          </a:xfrm>
        </p:spPr>
        <p:txBody>
          <a:bodyPr/>
          <a:lstStyle/>
          <a:p>
            <a:pPr lvl="2"/>
            <a:r>
              <a:rPr lang="en-US" sz="2400" b="1" dirty="0">
                <a:latin typeface="Times New Roman" panose="02020603050405020304" pitchFamily="18" charset="0"/>
                <a:cs typeface="Times New Roman" panose="02020603050405020304" pitchFamily="18" charset="0"/>
              </a:rPr>
              <a:t>Non-Functional Requirement </a:t>
            </a:r>
          </a:p>
          <a:p>
            <a:r>
              <a:rPr lang="en-US" sz="2400" dirty="0">
                <a:latin typeface="Times New Roman" panose="02020603050405020304" pitchFamily="18" charset="0"/>
                <a:cs typeface="Times New Roman" panose="02020603050405020304" pitchFamily="18" charset="0"/>
              </a:rPr>
              <a:t>Usability</a:t>
            </a:r>
          </a:p>
          <a:p>
            <a:r>
              <a:rPr lang="en-US" sz="2400" dirty="0">
                <a:latin typeface="Times New Roman" panose="02020603050405020304" pitchFamily="18" charset="0"/>
                <a:cs typeface="Times New Roman" panose="02020603050405020304" pitchFamily="18" charset="0"/>
              </a:rPr>
              <a:t>Maintainability</a:t>
            </a:r>
          </a:p>
          <a:p>
            <a:r>
              <a:rPr lang="en-US" sz="2400" dirty="0">
                <a:latin typeface="Times New Roman" panose="02020603050405020304" pitchFamily="18" charset="0"/>
                <a:cs typeface="Times New Roman" panose="02020603050405020304" pitchFamily="18" charset="0"/>
              </a:rPr>
              <a:t>Performance</a:t>
            </a:r>
          </a:p>
          <a:p>
            <a:r>
              <a:rPr lang="en-US" sz="2400" dirty="0">
                <a:latin typeface="Times New Roman" panose="02020603050405020304" pitchFamily="18" charset="0"/>
                <a:cs typeface="Times New Roman" panose="02020603050405020304" pitchFamily="18" charset="0"/>
              </a:rPr>
              <a:t>High availability</a:t>
            </a:r>
          </a:p>
          <a:p>
            <a:r>
              <a:rPr lang="en-US" sz="2400" dirty="0">
                <a:latin typeface="Times New Roman" panose="02020603050405020304" pitchFamily="18" charset="0"/>
                <a:cs typeface="Times New Roman" panose="02020603050405020304" pitchFamily="18" charset="0"/>
              </a:rPr>
              <a:t>Security</a:t>
            </a:r>
          </a:p>
        </p:txBody>
      </p:sp>
      <p:pic>
        <p:nvPicPr>
          <p:cNvPr id="18434" name="Picture 2" descr="Non-Functional Requirements: Definition ...">
            <a:extLst>
              <a:ext uri="{FF2B5EF4-FFF2-40B4-BE49-F238E27FC236}">
                <a16:creationId xmlns:a16="http://schemas.microsoft.com/office/drawing/2014/main" id="{BA137300-0440-271D-36B1-A185315B6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1183" y="3934052"/>
            <a:ext cx="5376573" cy="2923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388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E200D-9433-EA32-1162-C8925C70F3AE}"/>
              </a:ext>
            </a:extLst>
          </p:cNvPr>
          <p:cNvSpPr>
            <a:spLocks noGrp="1"/>
          </p:cNvSpPr>
          <p:nvPr>
            <p:ph type="title"/>
          </p:nvPr>
        </p:nvSpPr>
        <p:spPr>
          <a:xfrm>
            <a:off x="762175" y="627578"/>
            <a:ext cx="8596668" cy="1320800"/>
          </a:xfrm>
        </p:spPr>
        <p:txBody>
          <a:bodyPr>
            <a:normAutofit/>
          </a:bodyPr>
          <a:lstStyle/>
          <a:p>
            <a:pPr algn="ctr"/>
            <a:r>
              <a:rPr lang="en-GB" sz="4800" b="1" dirty="0">
                <a:latin typeface="Times New Roman" panose="02020603050405020304" pitchFamily="18" charset="0"/>
                <a:cs typeface="Times New Roman" panose="02020603050405020304" pitchFamily="18" charset="0"/>
              </a:rPr>
              <a:t>System Requirements</a:t>
            </a:r>
            <a:endParaRPr lang="en-US"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9A58B1-2628-355E-49E3-E02C322F56A8}"/>
              </a:ext>
            </a:extLst>
          </p:cNvPr>
          <p:cNvSpPr>
            <a:spLocks noGrp="1"/>
          </p:cNvSpPr>
          <p:nvPr>
            <p:ph idx="1"/>
          </p:nvPr>
        </p:nvSpPr>
        <p:spPr>
          <a:xfrm>
            <a:off x="762175" y="1948378"/>
            <a:ext cx="9635590" cy="3880773"/>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 Hardware Interfaces</a:t>
            </a:r>
          </a:p>
          <a:p>
            <a:r>
              <a:rPr lang="en-US" sz="2000" b="1" dirty="0">
                <a:latin typeface="Times New Roman" panose="02020603050405020304" pitchFamily="18" charset="0"/>
                <a:cs typeface="Times New Roman" panose="02020603050405020304" pitchFamily="18" charset="0"/>
              </a:rPr>
              <a:t>Device</a:t>
            </a:r>
            <a:r>
              <a:rPr lang="en-US" sz="2000" dirty="0">
                <a:latin typeface="Times New Roman" panose="02020603050405020304" pitchFamily="18" charset="0"/>
                <a:cs typeface="Times New Roman" panose="02020603050405020304" pitchFamily="18" charset="0"/>
              </a:rPr>
              <a:t>: Mobile/Tablet (Android or iOS)</a:t>
            </a:r>
          </a:p>
          <a:p>
            <a:r>
              <a:rPr lang="en-US" sz="2000" b="1" dirty="0">
                <a:latin typeface="Times New Roman" panose="02020603050405020304" pitchFamily="18" charset="0"/>
                <a:cs typeface="Times New Roman" panose="02020603050405020304" pitchFamily="18" charset="0"/>
              </a:rPr>
              <a:t>Camera</a:t>
            </a:r>
            <a:r>
              <a:rPr lang="en-US" sz="2000" dirty="0">
                <a:latin typeface="Times New Roman" panose="02020603050405020304" pitchFamily="18" charset="0"/>
                <a:cs typeface="Times New Roman" panose="02020603050405020304" pitchFamily="18" charset="0"/>
              </a:rPr>
              <a:t>: Required to capture skin images</a:t>
            </a:r>
          </a:p>
          <a:p>
            <a:r>
              <a:rPr lang="en-US" sz="2000" b="1" dirty="0">
                <a:latin typeface="Times New Roman" panose="02020603050405020304" pitchFamily="18" charset="0"/>
                <a:cs typeface="Times New Roman" panose="02020603050405020304" pitchFamily="18" charset="0"/>
              </a:rPr>
              <a:t>Internet</a:t>
            </a:r>
            <a:r>
              <a:rPr lang="en-US" sz="2000" dirty="0">
                <a:latin typeface="Times New Roman" panose="02020603050405020304" pitchFamily="18" charset="0"/>
                <a:cs typeface="Times New Roman" panose="02020603050405020304" pitchFamily="18" charset="0"/>
              </a:rPr>
              <a:t>: Required for model access and result retrieval</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Software Interfaces</a:t>
            </a:r>
          </a:p>
          <a:p>
            <a:pPr marL="0" indent="0">
              <a:buNone/>
            </a:pPr>
            <a:r>
              <a:rPr lang="en-US" sz="2000" dirty="0">
                <a:latin typeface="Times New Roman" panose="02020603050405020304" pitchFamily="18" charset="0"/>
                <a:cs typeface="Times New Roman" panose="02020603050405020304" pitchFamily="18" charset="0"/>
              </a:rPr>
              <a:t>Compatible with:</a:t>
            </a:r>
          </a:p>
          <a:p>
            <a:pPr lvl="1"/>
            <a:r>
              <a:rPr lang="en-US" sz="2000" b="1" dirty="0">
                <a:latin typeface="Times New Roman" panose="02020603050405020304" pitchFamily="18" charset="0"/>
                <a:cs typeface="Times New Roman" panose="02020603050405020304" pitchFamily="18" charset="0"/>
              </a:rPr>
              <a:t>Android </a:t>
            </a:r>
            <a:endParaRPr lang="en-US" sz="2000" dirty="0">
              <a:latin typeface="Times New Roman" panose="02020603050405020304" pitchFamily="18" charset="0"/>
              <a:cs typeface="Times New Roman" panose="02020603050405020304" pitchFamily="18" charset="0"/>
            </a:endParaRPr>
          </a:p>
          <a:p>
            <a:pPr lvl="1"/>
            <a:r>
              <a:rPr lang="en-US" sz="2000" b="1" dirty="0">
                <a:latin typeface="Times New Roman" panose="02020603050405020304" pitchFamily="18" charset="0"/>
                <a:cs typeface="Times New Roman" panose="02020603050405020304" pitchFamily="18" charset="0"/>
              </a:rPr>
              <a:t>iOS</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20482" name="Picture 2" descr="System Requirements">
            <a:extLst>
              <a:ext uri="{FF2B5EF4-FFF2-40B4-BE49-F238E27FC236}">
                <a16:creationId xmlns:a16="http://schemas.microsoft.com/office/drawing/2014/main" id="{DB30652E-334D-EEFC-8DD8-33127B438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2067" y="2271032"/>
            <a:ext cx="2694244" cy="2932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3977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F29D7-7345-E73E-A269-5A5190129CAB}"/>
              </a:ext>
            </a:extLst>
          </p:cNvPr>
          <p:cNvSpPr>
            <a:spLocks noGrp="1"/>
          </p:cNvSpPr>
          <p:nvPr>
            <p:ph type="title"/>
          </p:nvPr>
        </p:nvSpPr>
        <p:spPr>
          <a:xfrm>
            <a:off x="677334" y="458771"/>
            <a:ext cx="8596668" cy="1320800"/>
          </a:xfrm>
        </p:spPr>
        <p:txBody>
          <a:bodyPr>
            <a:normAutofit/>
          </a:bodyPr>
          <a:lstStyle/>
          <a:p>
            <a:pPr algn="ctr"/>
            <a:r>
              <a:rPr lang="en-US" sz="4800" b="1" dirty="0">
                <a:latin typeface="Times New Roman" panose="02020603050405020304" pitchFamily="18" charset="0"/>
                <a:cs typeface="Times New Roman" panose="02020603050405020304" pitchFamily="18" charset="0"/>
              </a:rPr>
              <a:t>Technology</a:t>
            </a:r>
          </a:p>
        </p:txBody>
      </p:sp>
      <p:sp>
        <p:nvSpPr>
          <p:cNvPr id="3" name="Content Placeholder 2">
            <a:extLst>
              <a:ext uri="{FF2B5EF4-FFF2-40B4-BE49-F238E27FC236}">
                <a16:creationId xmlns:a16="http://schemas.microsoft.com/office/drawing/2014/main" id="{22A4DAF8-71C4-A13A-DB69-023A1E6F8BE6}"/>
              </a:ext>
            </a:extLst>
          </p:cNvPr>
          <p:cNvSpPr>
            <a:spLocks noGrp="1"/>
          </p:cNvSpPr>
          <p:nvPr>
            <p:ph idx="1"/>
          </p:nvPr>
        </p:nvSpPr>
        <p:spPr>
          <a:xfrm>
            <a:off x="677334" y="1519565"/>
            <a:ext cx="8596668" cy="5032063"/>
          </a:xfrm>
        </p:spPr>
        <p:txBody>
          <a:bodyPr>
            <a:normAutofit fontScale="85000" lnSpcReduction="20000"/>
          </a:bodyPr>
          <a:lstStyle/>
          <a:p>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Frontend</a:t>
            </a:r>
          </a:p>
          <a:p>
            <a:pPr marL="0" indent="0">
              <a:buNone/>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React Native + Expo </a:t>
            </a: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 cross-platform mobile app development</a:t>
            </a:r>
          </a:p>
          <a:p>
            <a:pPr marL="0" indent="0">
              <a:buNone/>
            </a:pPr>
            <a:endParaRPr lang="en-US" sz="19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Backend</a:t>
            </a:r>
          </a:p>
          <a:p>
            <a:pPr marL="0" indent="0">
              <a:buNone/>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FastAPI (Python)</a:t>
            </a: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 backend framework, REST API endpoints</a:t>
            </a:r>
          </a:p>
          <a:p>
            <a:pPr marL="0" indent="0">
              <a:buNone/>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ViT Model </a:t>
            </a: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AI/ML skin disease detection</a:t>
            </a:r>
          </a:p>
          <a:p>
            <a:pPr marL="0" indent="0">
              <a:buNone/>
            </a:pPr>
            <a:endParaRPr lang="en-US" sz="19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External APIs:</a:t>
            </a:r>
            <a:endParaRPr lang="en-US" sz="19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lvl="1" indent="0">
              <a:buNone/>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Google Gemini 2.0 Flash</a:t>
            </a: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 disease info &amp; recommendations</a:t>
            </a:r>
          </a:p>
          <a:p>
            <a:pPr marL="457200" lvl="1" indent="0">
              <a:buNone/>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OpenWeatherMap API</a:t>
            </a: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 weather data integration</a:t>
            </a:r>
          </a:p>
          <a:p>
            <a:pPr marL="457200" lvl="1" indent="0">
              <a:buNone/>
            </a:pPr>
            <a:endParaRPr lang="en-US" sz="19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Database &amp; Storage</a:t>
            </a:r>
          </a:p>
          <a:p>
            <a:pPr marL="0" indent="0">
              <a:buNone/>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Firebase Authentication</a:t>
            </a: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 email/password + Google sign-in</a:t>
            </a:r>
          </a:p>
          <a:p>
            <a:pPr marL="0" indent="0">
              <a:buNone/>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Firestore (NoSQL)</a:t>
            </a: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 scan history, user data</a:t>
            </a:r>
          </a:p>
          <a:p>
            <a:pPr marL="0" indent="0">
              <a:buNone/>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900" b="1" dirty="0">
                <a:solidFill>
                  <a:schemeClr val="tx1">
                    <a:lumMod val="95000"/>
                    <a:lumOff val="5000"/>
                  </a:schemeClr>
                </a:solidFill>
                <a:latin typeface="Times New Roman" panose="02020603050405020304" pitchFamily="18" charset="0"/>
                <a:cs typeface="Times New Roman" panose="02020603050405020304" pitchFamily="18" charset="0"/>
              </a:rPr>
              <a:t>Firebase Storage</a:t>
            </a: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 — uploaded skin images</a:t>
            </a:r>
          </a:p>
          <a:p>
            <a:endParaRPr lang="en-US" dirty="0"/>
          </a:p>
        </p:txBody>
      </p:sp>
    </p:spTree>
    <p:extLst>
      <p:ext uri="{BB962C8B-B14F-4D97-AF65-F5344CB8AC3E}">
        <p14:creationId xmlns:p14="http://schemas.microsoft.com/office/powerpoint/2010/main" val="947279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DC061-C897-0BE1-6490-D813BCCD72FC}"/>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ViT Model</a:t>
            </a:r>
          </a:p>
        </p:txBody>
      </p:sp>
      <p:sp>
        <p:nvSpPr>
          <p:cNvPr id="3" name="Content Placeholder 2">
            <a:extLst>
              <a:ext uri="{FF2B5EF4-FFF2-40B4-BE49-F238E27FC236}">
                <a16:creationId xmlns:a16="http://schemas.microsoft.com/office/drawing/2014/main" id="{C11C2E2C-BC24-FE09-7B91-6A45E402859F}"/>
              </a:ext>
            </a:extLst>
          </p:cNvPr>
          <p:cNvSpPr>
            <a:spLocks noGrp="1"/>
          </p:cNvSpPr>
          <p:nvPr>
            <p:ph idx="1"/>
          </p:nvPr>
        </p:nvSpPr>
        <p:spPr>
          <a:xfrm>
            <a:off x="914400" y="1933954"/>
            <a:ext cx="7548896" cy="3480238"/>
          </a:xfrm>
        </p:spPr>
        <p:txBody>
          <a:bodyPr>
            <a:normAutofit/>
          </a:bodyPr>
          <a:lstStyle/>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Pretrained on ImageNet</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Fine-tuned for 6 classes</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Self-attention mechanism</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Dropout: 10%</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Learning Rate: 2e-4</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Batch Size: 32</a:t>
            </a:r>
          </a:p>
          <a:p>
            <a:endParaRPr lang="en-US" sz="1600" dirty="0"/>
          </a:p>
        </p:txBody>
      </p:sp>
      <p:pic>
        <p:nvPicPr>
          <p:cNvPr id="2051" name="Picture 3" descr="Modeling - Free computer icons">
            <a:extLst>
              <a:ext uri="{FF2B5EF4-FFF2-40B4-BE49-F238E27FC236}">
                <a16:creationId xmlns:a16="http://schemas.microsoft.com/office/drawing/2014/main" id="{1843CF16-5031-063B-B52C-F068F6620B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1050" y="2272597"/>
            <a:ext cx="2802952" cy="2802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404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F3FB3-6E16-0304-55B9-DBD33E353FE0}"/>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Dataset</a:t>
            </a:r>
          </a:p>
        </p:txBody>
      </p:sp>
      <p:sp>
        <p:nvSpPr>
          <p:cNvPr id="3" name="Content Placeholder 2">
            <a:extLst>
              <a:ext uri="{FF2B5EF4-FFF2-40B4-BE49-F238E27FC236}">
                <a16:creationId xmlns:a16="http://schemas.microsoft.com/office/drawing/2014/main" id="{4F496732-AB0B-5509-5DBA-D365A2CB54CB}"/>
              </a:ext>
            </a:extLst>
          </p:cNvPr>
          <p:cNvSpPr>
            <a:spLocks noGrp="1"/>
          </p:cNvSpPr>
          <p:nvPr>
            <p:ph idx="1"/>
          </p:nvPr>
        </p:nvSpPr>
        <p:spPr>
          <a:xfrm>
            <a:off x="601919" y="1792944"/>
            <a:ext cx="8596668" cy="4739831"/>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 Dataset: DermNet (Kaggle)</a:t>
            </a:r>
          </a:p>
          <a:p>
            <a:r>
              <a:rPr lang="en-US" dirty="0">
                <a:latin typeface="Times New Roman" panose="02020603050405020304" pitchFamily="18" charset="0"/>
                <a:cs typeface="Times New Roman" panose="02020603050405020304" pitchFamily="18" charset="0"/>
              </a:rPr>
              <a:t>Source: DermNet Dataset (Kaggle)</a:t>
            </a:r>
          </a:p>
          <a:p>
            <a:r>
              <a:rPr lang="en-US" dirty="0">
                <a:latin typeface="Times New Roman" panose="02020603050405020304" pitchFamily="18" charset="0"/>
                <a:cs typeface="Times New Roman" panose="02020603050405020304" pitchFamily="18" charset="0"/>
              </a:rPr>
              <a:t>Total Classes: </a:t>
            </a:r>
            <a:r>
              <a:rPr lang="en-US" b="1" dirty="0">
                <a:latin typeface="Times New Roman" panose="02020603050405020304" pitchFamily="18" charset="0"/>
                <a:cs typeface="Times New Roman" panose="02020603050405020304" pitchFamily="18" charset="0"/>
              </a:rPr>
              <a:t>6 Skin Diseases</a:t>
            </a:r>
            <a:endParaRPr lang="en-US"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Acne</a:t>
            </a:r>
          </a:p>
          <a:p>
            <a:pPr lvl="1"/>
            <a:r>
              <a:rPr lang="en-US" sz="1800" dirty="0">
                <a:latin typeface="Times New Roman" panose="02020603050405020304" pitchFamily="18" charset="0"/>
                <a:cs typeface="Times New Roman" panose="02020603050405020304" pitchFamily="18" charset="0"/>
              </a:rPr>
              <a:t>Basal Cell Carcinoma (BCC)</a:t>
            </a:r>
          </a:p>
          <a:p>
            <a:pPr lvl="1"/>
            <a:r>
              <a:rPr lang="en-US" sz="1800" dirty="0">
                <a:latin typeface="Times New Roman" panose="02020603050405020304" pitchFamily="18" charset="0"/>
                <a:cs typeface="Times New Roman" panose="02020603050405020304" pitchFamily="18" charset="0"/>
              </a:rPr>
              <a:t>Eczema</a:t>
            </a:r>
          </a:p>
          <a:p>
            <a:pPr lvl="1"/>
            <a:r>
              <a:rPr lang="en-US" sz="1800" dirty="0">
                <a:latin typeface="Times New Roman" panose="02020603050405020304" pitchFamily="18" charset="0"/>
                <a:cs typeface="Times New Roman" panose="02020603050405020304" pitchFamily="18" charset="0"/>
              </a:rPr>
              <a:t>Melanoma</a:t>
            </a:r>
          </a:p>
          <a:p>
            <a:pPr lvl="1"/>
            <a:r>
              <a:rPr lang="en-US" sz="1800" dirty="0">
                <a:latin typeface="Times New Roman" panose="02020603050405020304" pitchFamily="18" charset="0"/>
                <a:cs typeface="Times New Roman" panose="02020603050405020304" pitchFamily="18" charset="0"/>
              </a:rPr>
              <a:t>Psoriasis</a:t>
            </a:r>
          </a:p>
          <a:p>
            <a:pPr lvl="1"/>
            <a:r>
              <a:rPr lang="en-US" sz="1800" dirty="0">
                <a:latin typeface="Times New Roman" panose="02020603050405020304" pitchFamily="18" charset="0"/>
                <a:cs typeface="Times New Roman" panose="02020603050405020304" pitchFamily="18" charset="0"/>
              </a:rPr>
              <a:t>Squamous Cell Carcinoma (SCC)</a:t>
            </a:r>
          </a:p>
          <a:p>
            <a:pPr marL="0" indent="0">
              <a:buNone/>
            </a:pPr>
            <a:r>
              <a:rPr lang="en-US" b="1" dirty="0">
                <a:solidFill>
                  <a:schemeClr val="tx1"/>
                </a:solidFill>
                <a:latin typeface="Times New Roman" panose="02020603050405020304" pitchFamily="18" charset="0"/>
                <a:cs typeface="Times New Roman" panose="02020603050405020304" pitchFamily="18" charset="0"/>
              </a:rPr>
              <a:t>⚙️ Dataset Split</a:t>
            </a:r>
          </a:p>
          <a:p>
            <a:r>
              <a:rPr lang="en-US" dirty="0">
                <a:solidFill>
                  <a:schemeClr val="tx1"/>
                </a:solidFill>
                <a:latin typeface="Times New Roman" panose="02020603050405020304" pitchFamily="18" charset="0"/>
                <a:cs typeface="Times New Roman" panose="02020603050405020304" pitchFamily="18" charset="0"/>
              </a:rPr>
              <a:t>🟢 Training Set: </a:t>
            </a:r>
            <a:r>
              <a:rPr lang="en-US" b="1" dirty="0">
                <a:solidFill>
                  <a:schemeClr val="tx1"/>
                </a:solidFill>
                <a:latin typeface="Times New Roman" panose="02020603050405020304" pitchFamily="18" charset="0"/>
                <a:cs typeface="Times New Roman" panose="02020603050405020304" pitchFamily="18" charset="0"/>
              </a:rPr>
              <a:t>90%</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 Validation Set: </a:t>
            </a:r>
            <a:r>
              <a:rPr lang="en-US" b="1" dirty="0">
                <a:solidFill>
                  <a:schemeClr val="tx1"/>
                </a:solidFill>
                <a:latin typeface="Times New Roman" panose="02020603050405020304" pitchFamily="18" charset="0"/>
                <a:cs typeface="Times New Roman" panose="02020603050405020304" pitchFamily="18" charset="0"/>
              </a:rPr>
              <a:t>10%</a:t>
            </a:r>
            <a:endParaRPr lang="en-US" dirty="0">
              <a:solidFill>
                <a:schemeClr val="tx1"/>
              </a:solidFill>
              <a:latin typeface="Times New Roman" panose="02020603050405020304" pitchFamily="18" charset="0"/>
              <a:cs typeface="Times New Roman" panose="02020603050405020304" pitchFamily="18" charset="0"/>
            </a:endParaRPr>
          </a:p>
          <a:p>
            <a:pPr lvl="1"/>
            <a:endParaRPr lang="en-US" sz="1800" dirty="0">
              <a:latin typeface="Times New Roman" panose="02020603050405020304" pitchFamily="18" charset="0"/>
              <a:cs typeface="Times New Roman" panose="02020603050405020304" pitchFamily="18" charset="0"/>
            </a:endParaRPr>
          </a:p>
          <a:p>
            <a:endParaRPr lang="en-US" dirty="0"/>
          </a:p>
        </p:txBody>
      </p:sp>
      <p:pic>
        <p:nvPicPr>
          <p:cNvPr id="3074" name="Picture 2" descr="Dataset - Free networking icons">
            <a:extLst>
              <a:ext uri="{FF2B5EF4-FFF2-40B4-BE49-F238E27FC236}">
                <a16:creationId xmlns:a16="http://schemas.microsoft.com/office/drawing/2014/main" id="{2EA6CACD-74ED-7CAF-1861-3D701BE7BA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6504" y="1930400"/>
            <a:ext cx="3317498" cy="3317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491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8011F-7A48-25F5-2DE1-0807E03A657D}"/>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Evaluation Metrics</a:t>
            </a:r>
          </a:p>
        </p:txBody>
      </p:sp>
      <p:sp>
        <p:nvSpPr>
          <p:cNvPr id="3" name="Content Placeholder 2">
            <a:extLst>
              <a:ext uri="{FF2B5EF4-FFF2-40B4-BE49-F238E27FC236}">
                <a16:creationId xmlns:a16="http://schemas.microsoft.com/office/drawing/2014/main" id="{EBB5F9EC-C655-7FBF-CA06-95D525A28624}"/>
              </a:ext>
            </a:extLst>
          </p:cNvPr>
          <p:cNvSpPr>
            <a:spLocks noGrp="1"/>
          </p:cNvSpPr>
          <p:nvPr>
            <p:ph idx="1"/>
          </p:nvPr>
        </p:nvSpPr>
        <p:spPr>
          <a:xfrm>
            <a:off x="2079062" y="2102179"/>
            <a:ext cx="6068889" cy="2902236"/>
          </a:xfrm>
        </p:spPr>
        <p:txBody>
          <a:bodyPr/>
          <a:lstStyle/>
          <a:p>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Final Validation Accuracy: </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85.28%</a:t>
            </a: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Validation Loss: 0.599</a:t>
            </a:r>
          </a:p>
          <a:p>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Training Loss: 0.468</a:t>
            </a:r>
          </a:p>
          <a:p>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Epochs Completed: 11</a:t>
            </a:r>
          </a:p>
          <a:p>
            <a:endParaRPr lang="en-US" dirty="0"/>
          </a:p>
        </p:txBody>
      </p:sp>
      <p:pic>
        <p:nvPicPr>
          <p:cNvPr id="1028" name="Picture 4" descr="Free business and finance icons">
            <a:extLst>
              <a:ext uri="{FF2B5EF4-FFF2-40B4-BE49-F238E27FC236}">
                <a16:creationId xmlns:a16="http://schemas.microsoft.com/office/drawing/2014/main" id="{B8274182-27BE-E954-7DD4-2B4CD9DBA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9522" y="3994150"/>
            <a:ext cx="2548429" cy="2548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7246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0BA67-6266-B7DE-FDC3-4973E1EE7F1B}"/>
              </a:ext>
            </a:extLst>
          </p:cNvPr>
          <p:cNvSpPr>
            <a:spLocks noGrp="1"/>
          </p:cNvSpPr>
          <p:nvPr>
            <p:ph type="title"/>
          </p:nvPr>
        </p:nvSpPr>
        <p:spPr>
          <a:xfrm>
            <a:off x="752749" y="72273"/>
            <a:ext cx="8596668" cy="1320800"/>
          </a:xfrm>
        </p:spPr>
        <p:txBody>
          <a:bodyPr>
            <a:normAutofit/>
          </a:bodyPr>
          <a:lstStyle/>
          <a:p>
            <a:pPr algn="ctr"/>
            <a:r>
              <a:rPr lang="en-US" b="1" dirty="0">
                <a:latin typeface="Times New Roman" panose="02020603050405020304" pitchFamily="18" charset="0"/>
                <a:cs typeface="Times New Roman" panose="02020603050405020304" pitchFamily="18" charset="0"/>
              </a:rPr>
              <a:t>Use Case</a:t>
            </a:r>
            <a:br>
              <a:rPr lang="en-US" b="1" dirty="0">
                <a:latin typeface="Times New Roman" panose="02020603050405020304" pitchFamily="18" charset="0"/>
                <a:cs typeface="Times New Roman" panose="02020603050405020304" pitchFamily="18" charset="0"/>
              </a:rPr>
            </a:br>
            <a:r>
              <a:rPr lang="en-US" sz="1600" i="1" dirty="0">
                <a:latin typeface="Times New Roman" panose="02020603050405020304" pitchFamily="18" charset="0"/>
                <a:cs typeface="Times New Roman" panose="02020603050405020304" pitchFamily="18" charset="0"/>
              </a:rPr>
              <a:t>“</a:t>
            </a:r>
            <a:r>
              <a:rPr lang="en-GB" sz="1600" i="1" dirty="0">
                <a:latin typeface="Times New Roman" panose="02020603050405020304" pitchFamily="18" charset="0"/>
                <a:cs typeface="Times New Roman" panose="02020603050405020304" pitchFamily="18" charset="0"/>
              </a:rPr>
              <a:t>A use case diagram shows how different users (actors) interact with a system to accomplish a goal. It highlights the functionalities (use cases) the system will provide. </a:t>
            </a:r>
            <a:r>
              <a:rPr lang="en-US" sz="1600" i="1" dirty="0">
                <a:latin typeface="Times New Roman" panose="02020603050405020304" pitchFamily="18" charset="0"/>
                <a:cs typeface="Times New Roman" panose="02020603050405020304" pitchFamily="18" charset="0"/>
              </a:rPr>
              <a:t>”</a:t>
            </a:r>
            <a:endParaRPr lang="en-US" sz="1800" i="1" dirty="0"/>
          </a:p>
        </p:txBody>
      </p:sp>
      <p:pic>
        <p:nvPicPr>
          <p:cNvPr id="4" name="Picture 3">
            <a:extLst>
              <a:ext uri="{FF2B5EF4-FFF2-40B4-BE49-F238E27FC236}">
                <a16:creationId xmlns:a16="http://schemas.microsoft.com/office/drawing/2014/main" id="{241960F1-860E-823E-DBE4-FA41E7619D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9876" y="1253764"/>
            <a:ext cx="9115639" cy="5363852"/>
          </a:xfrm>
          <a:prstGeom prst="rect">
            <a:avLst/>
          </a:prstGeom>
          <a:noFill/>
          <a:ln>
            <a:noFill/>
          </a:ln>
        </p:spPr>
      </p:pic>
    </p:spTree>
    <p:extLst>
      <p:ext uri="{BB962C8B-B14F-4D97-AF65-F5344CB8AC3E}">
        <p14:creationId xmlns:p14="http://schemas.microsoft.com/office/powerpoint/2010/main" val="7254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D52D8-E915-4F6B-676E-B4162347D875}"/>
              </a:ext>
            </a:extLst>
          </p:cNvPr>
          <p:cNvSpPr>
            <a:spLocks noGrp="1"/>
          </p:cNvSpPr>
          <p:nvPr>
            <p:ph type="title"/>
          </p:nvPr>
        </p:nvSpPr>
        <p:spPr>
          <a:xfrm>
            <a:off x="941285" y="-78557"/>
            <a:ext cx="8596668" cy="1320800"/>
          </a:xfrm>
        </p:spPr>
        <p:txBody>
          <a:bodyPr>
            <a:normAutofit fontScale="90000"/>
          </a:bodyPr>
          <a:lstStyle/>
          <a:p>
            <a:pPr algn="ctr"/>
            <a:r>
              <a:rPr lang="en-GB" sz="4000" b="1" dirty="0">
                <a:latin typeface="Times New Roman" panose="02020603050405020304" pitchFamily="18" charset="0"/>
                <a:cs typeface="Times New Roman" panose="02020603050405020304" pitchFamily="18" charset="0"/>
              </a:rPr>
              <a:t>Architecture Diagram</a:t>
            </a:r>
            <a:br>
              <a:rPr lang="en-GB" sz="4000" b="1" dirty="0">
                <a:latin typeface="Times New Roman" panose="02020603050405020304" pitchFamily="18" charset="0"/>
                <a:cs typeface="Times New Roman" panose="02020603050405020304" pitchFamily="18" charset="0"/>
              </a:rPr>
            </a:br>
            <a:r>
              <a:rPr lang="en-GB" sz="1800" i="1" dirty="0">
                <a:latin typeface="Times New Roman" panose="02020603050405020304" pitchFamily="18" charset="0"/>
                <a:cs typeface="Times New Roman" panose="02020603050405020304" pitchFamily="18" charset="0"/>
              </a:rPr>
              <a:t>“An architecture diagram represents the structure of your system, including components, services, databases, and how they interact. ”</a:t>
            </a:r>
            <a:br>
              <a:rPr lang="en-US" b="1" dirty="0"/>
            </a:br>
            <a:endParaRPr lang="en-US" dirty="0"/>
          </a:p>
        </p:txBody>
      </p:sp>
      <p:pic>
        <p:nvPicPr>
          <p:cNvPr id="4" name="Content Placeholder 3">
            <a:extLst>
              <a:ext uri="{FF2B5EF4-FFF2-40B4-BE49-F238E27FC236}">
                <a16:creationId xmlns:a16="http://schemas.microsoft.com/office/drawing/2014/main" id="{970A482B-EE43-0C1A-269F-257CBE0F816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174" b="42616"/>
          <a:stretch>
            <a:fillRect/>
          </a:stretch>
        </p:blipFill>
        <p:spPr bwMode="auto">
          <a:xfrm>
            <a:off x="593311" y="2130458"/>
            <a:ext cx="8814062" cy="392155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36631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82AC2-83FA-BD57-2859-4F811E527205}"/>
              </a:ext>
            </a:extLst>
          </p:cNvPr>
          <p:cNvSpPr>
            <a:spLocks noGrp="1"/>
          </p:cNvSpPr>
          <p:nvPr>
            <p:ph type="title"/>
          </p:nvPr>
        </p:nvSpPr>
        <p:spPr>
          <a:xfrm>
            <a:off x="799883" y="-57610"/>
            <a:ext cx="8596668" cy="1320800"/>
          </a:xfrm>
        </p:spPr>
        <p:txBody>
          <a:bodyPr>
            <a:normAutofit/>
          </a:bodyPr>
          <a:lstStyle/>
          <a:p>
            <a:pPr algn="ctr"/>
            <a:r>
              <a:rPr lang="en-GB" b="1" dirty="0">
                <a:latin typeface="Times New Roman" panose="02020603050405020304" pitchFamily="18" charset="0"/>
                <a:cs typeface="Times New Roman" panose="02020603050405020304" pitchFamily="18" charset="0"/>
              </a:rPr>
              <a:t>Database Design</a:t>
            </a:r>
            <a:br>
              <a:rPr lang="en-GB" sz="4400" b="1" dirty="0">
                <a:latin typeface="Times New Roman" panose="02020603050405020304" pitchFamily="18" charset="0"/>
                <a:cs typeface="Times New Roman" panose="02020603050405020304" pitchFamily="18" charset="0"/>
              </a:rPr>
            </a:br>
            <a:r>
              <a:rPr lang="en-GB" sz="1600" i="1" dirty="0">
                <a:latin typeface="Times New Roman" panose="02020603050405020304" pitchFamily="18" charset="0"/>
                <a:cs typeface="Times New Roman" panose="02020603050405020304" pitchFamily="18" charset="0"/>
              </a:rPr>
              <a:t>“A database design diagram (ERD – Entity Relationship Diagram) shows how data is organized, including tables, fields, and relationships. ”</a:t>
            </a:r>
            <a:endParaRPr lang="en-US" sz="4400"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DB8F0A1B-A70A-A6A2-5973-0B3EBC26763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5781" t="45743" r="12518" b="32734"/>
          <a:stretch>
            <a:fillRect/>
          </a:stretch>
        </p:blipFill>
        <p:spPr bwMode="auto">
          <a:xfrm>
            <a:off x="235670" y="1027520"/>
            <a:ext cx="10020692" cy="592474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90459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D5A964A-4AA8-BB57-EB0D-39DB49330EC3}"/>
              </a:ext>
            </a:extLst>
          </p:cNvPr>
          <p:cNvGraphicFramePr>
            <a:graphicFrameLocks noGrp="1"/>
          </p:cNvGraphicFramePr>
          <p:nvPr>
            <p:extLst>
              <p:ext uri="{D42A27DB-BD31-4B8C-83A1-F6EECF244321}">
                <p14:modId xmlns:p14="http://schemas.microsoft.com/office/powerpoint/2010/main" val="1147826813"/>
              </p:ext>
            </p:extLst>
          </p:nvPr>
        </p:nvGraphicFramePr>
        <p:xfrm>
          <a:off x="580272" y="1283005"/>
          <a:ext cx="4236825" cy="1976400"/>
        </p:xfrm>
        <a:graphic>
          <a:graphicData uri="http://schemas.openxmlformats.org/drawingml/2006/table">
            <a:tbl>
              <a:tblPr firstRow="1" bandRow="1">
                <a:tableStyleId>{5C22544A-7EE6-4342-B048-85BDC9FD1C3A}</a:tableStyleId>
              </a:tblPr>
              <a:tblGrid>
                <a:gridCol w="4236825">
                  <a:extLst>
                    <a:ext uri="{9D8B030D-6E8A-4147-A177-3AD203B41FA5}">
                      <a16:colId xmlns:a16="http://schemas.microsoft.com/office/drawing/2014/main" val="1704367390"/>
                    </a:ext>
                  </a:extLst>
                </a:gridCol>
              </a:tblGrid>
              <a:tr h="1976400">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Strength 💪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AI-powered detection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Real-time image analysis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Cross-platform</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Secure &amp; scalable</a:t>
                      </a:r>
                    </a:p>
                  </a:txBody>
                  <a:tcPr>
                    <a:solidFill>
                      <a:schemeClr val="accent1">
                        <a:lumMod val="40000"/>
                        <a:lumOff val="60000"/>
                      </a:schemeClr>
                    </a:solidFill>
                  </a:tcPr>
                </a:tc>
                <a:extLst>
                  <a:ext uri="{0D108BD9-81ED-4DB2-BD59-A6C34878D82A}">
                    <a16:rowId xmlns:a16="http://schemas.microsoft.com/office/drawing/2014/main" val="1533398045"/>
                  </a:ext>
                </a:extLst>
              </a:tr>
            </a:tbl>
          </a:graphicData>
        </a:graphic>
      </p:graphicFrame>
      <p:graphicFrame>
        <p:nvGraphicFramePr>
          <p:cNvPr id="5" name="Table 4">
            <a:extLst>
              <a:ext uri="{FF2B5EF4-FFF2-40B4-BE49-F238E27FC236}">
                <a16:creationId xmlns:a16="http://schemas.microsoft.com/office/drawing/2014/main" id="{29E7883C-4517-3DAB-33F7-458570399431}"/>
              </a:ext>
            </a:extLst>
          </p:cNvPr>
          <p:cNvGraphicFramePr>
            <a:graphicFrameLocks noGrp="1"/>
          </p:cNvGraphicFramePr>
          <p:nvPr>
            <p:extLst>
              <p:ext uri="{D42A27DB-BD31-4B8C-83A1-F6EECF244321}">
                <p14:modId xmlns:p14="http://schemas.microsoft.com/office/powerpoint/2010/main" val="4151890206"/>
              </p:ext>
            </p:extLst>
          </p:nvPr>
        </p:nvGraphicFramePr>
        <p:xfrm>
          <a:off x="5583810" y="3855520"/>
          <a:ext cx="4236825" cy="1976400"/>
        </p:xfrm>
        <a:graphic>
          <a:graphicData uri="http://schemas.openxmlformats.org/drawingml/2006/table">
            <a:tbl>
              <a:tblPr firstRow="1" bandRow="1">
                <a:tableStyleId>{5C22544A-7EE6-4342-B048-85BDC9FD1C3A}</a:tableStyleId>
              </a:tblPr>
              <a:tblGrid>
                <a:gridCol w="4236825">
                  <a:extLst>
                    <a:ext uri="{9D8B030D-6E8A-4147-A177-3AD203B41FA5}">
                      <a16:colId xmlns:a16="http://schemas.microsoft.com/office/drawing/2014/main" val="1704367390"/>
                    </a:ext>
                  </a:extLst>
                </a:gridCol>
              </a:tblGrid>
              <a:tr h="1976400">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Threats ⚡</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Risk of misdiagnosis</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Competition from AI apps </a:t>
                      </a:r>
                    </a:p>
                  </a:txBody>
                  <a:tcPr>
                    <a:solidFill>
                      <a:schemeClr val="tx2"/>
                    </a:solidFill>
                  </a:tcPr>
                </a:tc>
                <a:extLst>
                  <a:ext uri="{0D108BD9-81ED-4DB2-BD59-A6C34878D82A}">
                    <a16:rowId xmlns:a16="http://schemas.microsoft.com/office/drawing/2014/main" val="1533398045"/>
                  </a:ext>
                </a:extLst>
              </a:tr>
            </a:tbl>
          </a:graphicData>
        </a:graphic>
      </p:graphicFrame>
      <p:graphicFrame>
        <p:nvGraphicFramePr>
          <p:cNvPr id="6" name="Table 5">
            <a:extLst>
              <a:ext uri="{FF2B5EF4-FFF2-40B4-BE49-F238E27FC236}">
                <a16:creationId xmlns:a16="http://schemas.microsoft.com/office/drawing/2014/main" id="{302BC277-C0D2-4CF4-3ED9-D97047D0FCD7}"/>
              </a:ext>
            </a:extLst>
          </p:cNvPr>
          <p:cNvGraphicFramePr>
            <a:graphicFrameLocks noGrp="1"/>
          </p:cNvGraphicFramePr>
          <p:nvPr>
            <p:extLst>
              <p:ext uri="{D42A27DB-BD31-4B8C-83A1-F6EECF244321}">
                <p14:modId xmlns:p14="http://schemas.microsoft.com/office/powerpoint/2010/main" val="3504197619"/>
              </p:ext>
            </p:extLst>
          </p:nvPr>
        </p:nvGraphicFramePr>
        <p:xfrm>
          <a:off x="5583810" y="1284268"/>
          <a:ext cx="4236825" cy="1976400"/>
        </p:xfrm>
        <a:graphic>
          <a:graphicData uri="http://schemas.openxmlformats.org/drawingml/2006/table">
            <a:tbl>
              <a:tblPr firstRow="1" bandRow="1">
                <a:tableStyleId>{5C22544A-7EE6-4342-B048-85BDC9FD1C3A}</a:tableStyleId>
              </a:tblPr>
              <a:tblGrid>
                <a:gridCol w="4236825">
                  <a:extLst>
                    <a:ext uri="{9D8B030D-6E8A-4147-A177-3AD203B41FA5}">
                      <a16:colId xmlns:a16="http://schemas.microsoft.com/office/drawing/2014/main" val="1704367390"/>
                    </a:ext>
                  </a:extLst>
                </a:gridCol>
              </a:tblGrid>
              <a:tr h="1976400">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Weaknesses ⚠️</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Internet dependency</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Not a replacement for dermatologist</a:t>
                      </a:r>
                      <a:endParaRPr lang="en-US" dirty="0">
                        <a:latin typeface="Times New Roman" panose="02020603050405020304" pitchFamily="18" charset="0"/>
                        <a:cs typeface="Times New Roman" panose="02020603050405020304" pitchFamily="18" charset="0"/>
                      </a:endParaRPr>
                    </a:p>
                  </a:txBody>
                  <a:tcPr>
                    <a:solidFill>
                      <a:schemeClr val="accent1">
                        <a:lumMod val="60000"/>
                        <a:lumOff val="40000"/>
                      </a:schemeClr>
                    </a:solidFill>
                  </a:tcPr>
                </a:tc>
                <a:extLst>
                  <a:ext uri="{0D108BD9-81ED-4DB2-BD59-A6C34878D82A}">
                    <a16:rowId xmlns:a16="http://schemas.microsoft.com/office/drawing/2014/main" val="1533398045"/>
                  </a:ext>
                </a:extLst>
              </a:tr>
            </a:tbl>
          </a:graphicData>
        </a:graphic>
      </p:graphicFrame>
      <p:graphicFrame>
        <p:nvGraphicFramePr>
          <p:cNvPr id="7" name="Table 6">
            <a:extLst>
              <a:ext uri="{FF2B5EF4-FFF2-40B4-BE49-F238E27FC236}">
                <a16:creationId xmlns:a16="http://schemas.microsoft.com/office/drawing/2014/main" id="{28D1DB10-7DBE-E5CA-A416-0CF785AD727D}"/>
              </a:ext>
            </a:extLst>
          </p:cNvPr>
          <p:cNvGraphicFramePr>
            <a:graphicFrameLocks noGrp="1"/>
          </p:cNvGraphicFramePr>
          <p:nvPr>
            <p:extLst>
              <p:ext uri="{D42A27DB-BD31-4B8C-83A1-F6EECF244321}">
                <p14:modId xmlns:p14="http://schemas.microsoft.com/office/powerpoint/2010/main" val="3644369152"/>
              </p:ext>
            </p:extLst>
          </p:nvPr>
        </p:nvGraphicFramePr>
        <p:xfrm>
          <a:off x="580272" y="3855520"/>
          <a:ext cx="4236825" cy="1976400"/>
        </p:xfrm>
        <a:graphic>
          <a:graphicData uri="http://schemas.openxmlformats.org/drawingml/2006/table">
            <a:tbl>
              <a:tblPr firstRow="1" bandRow="1">
                <a:tableStyleId>{5C22544A-7EE6-4342-B048-85BDC9FD1C3A}</a:tableStyleId>
              </a:tblPr>
              <a:tblGrid>
                <a:gridCol w="4236825">
                  <a:extLst>
                    <a:ext uri="{9D8B030D-6E8A-4147-A177-3AD203B41FA5}">
                      <a16:colId xmlns:a16="http://schemas.microsoft.com/office/drawing/2014/main" val="1704367390"/>
                    </a:ext>
                  </a:extLst>
                </a:gridCol>
              </a:tblGrid>
              <a:tr h="1976400">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Opportunities 🌟</a:t>
                      </a:r>
                      <a:endParaRPr lang="en-US" sz="1800" b="1" kern="1200" dirty="0">
                        <a:solidFill>
                          <a:schemeClr val="lt1"/>
                        </a:solidFill>
                        <a:effectLst/>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US" sz="1800" b="1" kern="1200" dirty="0">
                          <a:solidFill>
                            <a:schemeClr val="lt1"/>
                          </a:solidFill>
                          <a:effectLst/>
                          <a:latin typeface="Times New Roman" panose="02020603050405020304" pitchFamily="18" charset="0"/>
                          <a:ea typeface="+mn-ea"/>
                          <a:cs typeface="Times New Roman" panose="02020603050405020304" pitchFamily="18" charset="0"/>
                        </a:rPr>
                        <a:t>Expand to more diseases    </a:t>
                      </a:r>
                    </a:p>
                    <a:p>
                      <a:pPr marL="285750" indent="-285750">
                        <a:buFont typeface="Arial" panose="020B0604020202020204" pitchFamily="34" charset="0"/>
                        <a:buChar char="•"/>
                      </a:pPr>
                      <a:r>
                        <a:rPr lang="en-US" sz="1800" b="1" kern="1200" dirty="0">
                          <a:solidFill>
                            <a:schemeClr val="lt1"/>
                          </a:solidFill>
                          <a:effectLst/>
                          <a:latin typeface="Times New Roman" panose="02020603050405020304" pitchFamily="18" charset="0"/>
                          <a:ea typeface="+mn-ea"/>
                          <a:cs typeface="Times New Roman" panose="02020603050405020304" pitchFamily="18" charset="0"/>
                        </a:rPr>
                        <a:t> Raise health awareness     </a:t>
                      </a:r>
                    </a:p>
                    <a:p>
                      <a:pPr marL="285750" indent="-285750">
                        <a:buFont typeface="Arial" panose="020B0604020202020204" pitchFamily="34" charset="0"/>
                        <a:buChar char="•"/>
                      </a:pPr>
                      <a:r>
                        <a:rPr lang="en-US" sz="1800" b="1" kern="1200" dirty="0">
                          <a:solidFill>
                            <a:schemeClr val="lt1"/>
                          </a:solidFill>
                          <a:effectLst/>
                          <a:latin typeface="Times New Roman" panose="02020603050405020304" pitchFamily="18" charset="0"/>
                          <a:ea typeface="+mn-ea"/>
                          <a:cs typeface="Times New Roman" panose="02020603050405020304" pitchFamily="18" charset="0"/>
                        </a:rPr>
                        <a:t> Hospital partnerships </a:t>
                      </a:r>
                      <a:endParaRPr lang="en-US" dirty="0">
                        <a:latin typeface="Times New Roman" panose="02020603050405020304" pitchFamily="18" charset="0"/>
                        <a:cs typeface="Times New Roman" panose="02020603050405020304" pitchFamily="18" charset="0"/>
                      </a:endParaRPr>
                    </a:p>
                  </a:txBody>
                  <a:tcPr>
                    <a:solidFill>
                      <a:schemeClr val="tx2">
                        <a:lumMod val="60000"/>
                        <a:lumOff val="40000"/>
                      </a:schemeClr>
                    </a:solidFill>
                  </a:tcPr>
                </a:tc>
                <a:extLst>
                  <a:ext uri="{0D108BD9-81ED-4DB2-BD59-A6C34878D82A}">
                    <a16:rowId xmlns:a16="http://schemas.microsoft.com/office/drawing/2014/main" val="1533398045"/>
                  </a:ext>
                </a:extLst>
              </a:tr>
            </a:tbl>
          </a:graphicData>
        </a:graphic>
      </p:graphicFrame>
      <p:sp>
        <p:nvSpPr>
          <p:cNvPr id="8" name="TextBox 7">
            <a:extLst>
              <a:ext uri="{FF2B5EF4-FFF2-40B4-BE49-F238E27FC236}">
                <a16:creationId xmlns:a16="http://schemas.microsoft.com/office/drawing/2014/main" id="{8E898747-5F58-C361-9720-9169B1F498EC}"/>
              </a:ext>
            </a:extLst>
          </p:cNvPr>
          <p:cNvSpPr txBox="1"/>
          <p:nvPr/>
        </p:nvSpPr>
        <p:spPr>
          <a:xfrm>
            <a:off x="2156817" y="270933"/>
            <a:ext cx="5683316" cy="830997"/>
          </a:xfrm>
          <a:prstGeom prst="rect">
            <a:avLst/>
          </a:prstGeom>
          <a:noFill/>
        </p:spPr>
        <p:txBody>
          <a:bodyPr wrap="square" rtlCol="0">
            <a:spAutoFit/>
          </a:bodyPr>
          <a:lstStyle/>
          <a:p>
            <a:pPr algn="ctr"/>
            <a:r>
              <a:rPr lang="en-US" sz="4800" b="1" dirty="0">
                <a:solidFill>
                  <a:schemeClr val="accent1">
                    <a:lumMod val="75000"/>
                  </a:schemeClr>
                </a:solidFill>
                <a:latin typeface="Times New Roman" panose="02020603050405020304" pitchFamily="18" charset="0"/>
                <a:cs typeface="Times New Roman" panose="02020603050405020304" pitchFamily="18" charset="0"/>
              </a:rPr>
              <a:t>SWOT Analysis</a:t>
            </a:r>
          </a:p>
        </p:txBody>
      </p:sp>
    </p:spTree>
    <p:extLst>
      <p:ext uri="{BB962C8B-B14F-4D97-AF65-F5344CB8AC3E}">
        <p14:creationId xmlns:p14="http://schemas.microsoft.com/office/powerpoint/2010/main" val="1671951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92B745CA-C873-3016-8320-1D025064A178}"/>
              </a:ext>
            </a:extLst>
          </p:cNvPr>
          <p:cNvSpPr>
            <a:spLocks noGrp="1" noChangeArrowheads="1"/>
          </p:cNvSpPr>
          <p:nvPr>
            <p:ph type="title"/>
          </p:nvPr>
        </p:nvSpPr>
        <p:spPr bwMode="auto">
          <a:xfrm>
            <a:off x="854579" y="2890391"/>
            <a:ext cx="921438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Thank You!</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“Innovation is seeing what everybody has seen and thinking what nobody has thought.”</a:t>
            </a:r>
            <a:br>
              <a:rPr kumimoji="0" lang="en-US" altLang="en-US" sz="5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Dr. Albert Szent-Gyorgyi</a:t>
            </a:r>
          </a:p>
        </p:txBody>
      </p:sp>
    </p:spTree>
    <p:extLst>
      <p:ext uri="{BB962C8B-B14F-4D97-AF65-F5344CB8AC3E}">
        <p14:creationId xmlns:p14="http://schemas.microsoft.com/office/powerpoint/2010/main" val="3011433739"/>
      </p:ext>
    </p:extLst>
  </p:cSld>
  <p:clrMapOvr>
    <a:masterClrMapping/>
  </p:clrMapOvr>
</p:sld>
</file>

<file path=ppt/theme/theme1.xml><?xml version="1.0" encoding="utf-8"?>
<a:theme xmlns:a="http://schemas.openxmlformats.org/drawingml/2006/main" name="Facet">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2069</TotalTime>
  <Words>769</Words>
  <Application>Microsoft Office PowerPoint</Application>
  <PresentationFormat>Widescreen</PresentationFormat>
  <Paragraphs>132</Paragraphs>
  <Slides>19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Times New Roman</vt:lpstr>
      <vt:lpstr>Trebuchet MS</vt:lpstr>
      <vt:lpstr>Wingdings</vt:lpstr>
      <vt:lpstr>Wingdings 3</vt:lpstr>
      <vt:lpstr>Facet</vt:lpstr>
      <vt:lpstr>MediDerma-Automated Skin Disease Detector</vt:lpstr>
      <vt:lpstr>Problem Statement</vt:lpstr>
      <vt:lpstr>Key Objectives</vt:lpstr>
      <vt:lpstr>Motivation</vt:lpstr>
      <vt:lpstr>Overview </vt:lpstr>
      <vt:lpstr>Target Users</vt:lpstr>
      <vt:lpstr>Proposed Solution</vt:lpstr>
      <vt:lpstr>Requirements </vt:lpstr>
      <vt:lpstr>PowerPoint Presentation</vt:lpstr>
      <vt:lpstr>System Requirements</vt:lpstr>
      <vt:lpstr>Technology</vt:lpstr>
      <vt:lpstr>ViT Model</vt:lpstr>
      <vt:lpstr>Dataset</vt:lpstr>
      <vt:lpstr>Evaluation Metrics</vt:lpstr>
      <vt:lpstr>Use Case “A use case diagram shows how different users (actors) interact with a system to accomplish a goal. It highlights the functionalities (use cases) the system will provide. ”</vt:lpstr>
      <vt:lpstr>Architecture Diagram “An architecture diagram represents the structure of your system, including components, services, databases, and how they interact. ” </vt:lpstr>
      <vt:lpstr>Database Design “A database design diagram (ERD – Entity Relationship Diagram) shows how data is organized, including tables, fields, and relationships. ”</vt:lpstr>
      <vt:lpstr>PowerPoint Presentation</vt:lpstr>
      <vt:lpstr>Thank You! “Innovation is seeing what everybody has seen and thinking what nobody has thought.” — Dr. Albert Szent-Gyorgyi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HIJJAB ZAHRA</dc:creator>
  <cp:lastModifiedBy>HIJJAB ZAHRA</cp:lastModifiedBy>
  <cp:revision>23</cp:revision>
  <dcterms:created xsi:type="dcterms:W3CDTF">2025-06-28T05:55:29Z</dcterms:created>
  <dcterms:modified xsi:type="dcterms:W3CDTF">2026-02-12T19:29:12Z</dcterms:modified>
</cp:coreProperties>
</file>